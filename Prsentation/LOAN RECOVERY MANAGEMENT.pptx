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lexandria Bold" charset="1" panose="00000000000000000000"/>
      <p:regular r:id="rId15"/>
    </p:embeddedFont>
    <p:embeddedFont>
      <p:font typeface="Times New Roman MT" charset="1" panose="02030502070405020303"/>
      <p:regular r:id="rId16"/>
    </p:embeddedFon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39625" y="2700819"/>
            <a:ext cx="15619675" cy="659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7"/>
              </a:lnSpc>
            </a:pPr>
            <a:r>
              <a:rPr lang="en-US" b="true" sz="10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LOAN RECOVERY MANAGEMENT</a:t>
            </a:r>
          </a:p>
          <a:p>
            <a:pPr algn="ctr">
              <a:lnSpc>
                <a:spcPts val="7149"/>
              </a:lnSpc>
            </a:pPr>
            <a:r>
              <a:rPr lang="en-US" b="true" sz="51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GROUP NUMBER-1</a:t>
            </a:r>
          </a:p>
          <a:p>
            <a:pPr algn="ctr">
              <a:lnSpc>
                <a:spcPts val="1610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644970" y="114137"/>
            <a:ext cx="3539017" cy="2357870"/>
          </a:xfrm>
          <a:custGeom>
            <a:avLst/>
            <a:gdLst/>
            <a:ahLst/>
            <a:cxnLst/>
            <a:rect r="r" b="b" t="t" l="l"/>
            <a:pathLst>
              <a:path h="2357870" w="3539017">
                <a:moveTo>
                  <a:pt x="0" y="0"/>
                </a:moveTo>
                <a:lnTo>
                  <a:pt x="3539016" y="0"/>
                </a:lnTo>
                <a:lnTo>
                  <a:pt x="3539016" y="2357870"/>
                </a:lnTo>
                <a:lnTo>
                  <a:pt x="0" y="2357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96338" y="8215233"/>
            <a:ext cx="12248575" cy="177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4123">
                <a:solidFill>
                  <a:srgbClr val="05183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Department of BioSystems Technology</a:t>
            </a:r>
          </a:p>
          <a:p>
            <a:pPr algn="l">
              <a:lnSpc>
                <a:spcPts val="3917"/>
              </a:lnSpc>
            </a:pPr>
            <a:r>
              <a:rPr lang="en-US" sz="4123">
                <a:solidFill>
                  <a:srgbClr val="05183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Faculty of Technology</a:t>
            </a:r>
          </a:p>
          <a:p>
            <a:pPr algn="l">
              <a:lnSpc>
                <a:spcPts val="3917"/>
              </a:lnSpc>
            </a:pPr>
            <a:r>
              <a:rPr lang="en-US" sz="4123">
                <a:solidFill>
                  <a:srgbClr val="05183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 Sir John Kotelawala Defence University</a:t>
            </a:r>
          </a:p>
          <a:p>
            <a:pPr algn="l">
              <a:lnSpc>
                <a:spcPts val="166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1307191"/>
            <a:ext cx="9205169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3857" y="4097138"/>
            <a:ext cx="11400286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 project focuses on developing a Loan </a:t>
            </a: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Recovery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Management System that helps organizations track, monitor, and improve loan repayment processes using automation and data-driven insights.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1514" y="2474536"/>
            <a:ext cx="15181195" cy="640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Organizations dealing with loans often face challenges such as: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3138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Difficulty tracking repayment dates</a:t>
            </a:r>
          </a:p>
          <a:p>
            <a:pPr algn="l">
              <a:lnSpc>
                <a:spcPts val="3138"/>
              </a:lnSpc>
            </a:pPr>
          </a:p>
          <a:p>
            <a:pPr algn="l" marL="705747" indent="-352873" lvl="1">
              <a:lnSpc>
                <a:spcPts val="3138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calculation errors</a:t>
            </a:r>
          </a:p>
          <a:p>
            <a:pPr algn="l">
              <a:lnSpc>
                <a:spcPts val="3138"/>
              </a:lnSpc>
            </a:pPr>
          </a:p>
          <a:p>
            <a:pPr algn="l" marL="705747" indent="-352873" lvl="1">
              <a:lnSpc>
                <a:spcPts val="3138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Identifying customers who delay payments</a:t>
            </a:r>
          </a:p>
          <a:p>
            <a:pPr algn="l">
              <a:lnSpc>
                <a:spcPts val="3138"/>
              </a:lnSpc>
            </a:pPr>
          </a:p>
          <a:p>
            <a:pPr algn="l" marL="705747" indent="-352873" lvl="1">
              <a:lnSpc>
                <a:spcPts val="3138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Poor visibility of repayment behavior</a:t>
            </a:r>
          </a:p>
          <a:p>
            <a:pPr algn="l">
              <a:lnSpc>
                <a:spcPts val="3138"/>
              </a:lnSpc>
            </a:pPr>
          </a:p>
          <a:p>
            <a:pPr algn="l" marL="705747" indent="-352873" lvl="1">
              <a:lnSpc>
                <a:spcPts val="3138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Lack of automated grading or reporting</a:t>
            </a:r>
          </a:p>
          <a:p>
            <a:pPr algn="l">
              <a:lnSpc>
                <a:spcPts val="4576"/>
              </a:lnSpc>
            </a:pP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system solves these issues by providing automated tracking, grading, and reporting.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62896" y="310548"/>
            <a:ext cx="12470500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1029392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90652" y="342528"/>
            <a:ext cx="1405939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4922" y="2560970"/>
            <a:ext cx="14985346" cy="623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Automate loan repayment tracking</a:t>
            </a:r>
          </a:p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Record customer, loan start, and loan completion details</a:t>
            </a:r>
          </a:p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Automatically calculate repayment duration</a:t>
            </a:r>
          </a:p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Grade customers based on repayment behavior</a:t>
            </a:r>
          </a:p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Identify risky or delayed customers</a:t>
            </a:r>
          </a:p>
          <a:p>
            <a:pPr algn="l" marL="752227" indent="-376114" lvl="1">
              <a:lnSpc>
                <a:spcPts val="7212"/>
              </a:lnSpc>
              <a:buFont typeface="Arial"/>
              <a:buChar char="•"/>
            </a:pPr>
            <a:r>
              <a:rPr lang="en-US" sz="348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simple reporting and history records</a:t>
            </a:r>
          </a:p>
          <a:p>
            <a:pPr algn="l">
              <a:lnSpc>
                <a:spcPts val="637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9920" y="490326"/>
            <a:ext cx="9205169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1514" y="1717079"/>
            <a:ext cx="15410606" cy="758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7"/>
              </a:lnSpc>
            </a:pPr>
          </a:p>
          <a:p>
            <a:pPr algn="l" marL="664294" indent="-332147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System is </a:t>
            </a:r>
            <a:r>
              <a:rPr lang="en-US" b="true" sz="307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admin-based</a:t>
            </a: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, and only the administrator can view loan details</a:t>
            </a:r>
          </a:p>
          <a:p>
            <a:pPr algn="l">
              <a:lnSpc>
                <a:spcPts val="4307"/>
              </a:lnSpc>
            </a:pPr>
          </a:p>
          <a:p>
            <a:pPr algn="l" marL="664294" indent="-332147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System is customised for Sri Lankan timezone, so it may not work correctly in other timezones</a:t>
            </a:r>
          </a:p>
          <a:p>
            <a:pPr algn="l">
              <a:lnSpc>
                <a:spcPts val="4307"/>
              </a:lnSpc>
            </a:pPr>
          </a:p>
          <a:p>
            <a:pPr algn="l" marL="664294" indent="-332147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Sri Lankan currency (LKR) only</a:t>
            </a:r>
          </a:p>
          <a:p>
            <a:pPr algn="l">
              <a:lnSpc>
                <a:spcPts val="4307"/>
              </a:lnSpc>
            </a:pPr>
          </a:p>
          <a:p>
            <a:pPr algn="l" marL="664294" indent="-332147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automated SMS or email notifications (planned for future enhancement)</a:t>
            </a:r>
          </a:p>
          <a:p>
            <a:pPr algn="l">
              <a:lnSpc>
                <a:spcPts val="4307"/>
              </a:lnSpc>
            </a:pPr>
          </a:p>
          <a:p>
            <a:pPr algn="l" marL="664294" indent="-332147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integration with external banking or financial system</a:t>
            </a:r>
          </a:p>
          <a:p>
            <a:pPr algn="l">
              <a:lnSpc>
                <a:spcPts val="4307"/>
              </a:lnSpc>
            </a:pPr>
          </a:p>
          <a:p>
            <a:pPr algn="l">
              <a:lnSpc>
                <a:spcPts val="4307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3922535" y="9641132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81560" y="-2110059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1537302"/>
            <a:ext cx="17259300" cy="529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33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 Ensuring Atomic Updates During Recovery Recording</a:t>
            </a:r>
          </a:p>
          <a:p>
            <a:pPr algn="l">
              <a:lnSpc>
                <a:spcPts val="4673"/>
              </a:lnSpc>
            </a:pPr>
          </a:p>
          <a:p>
            <a:pPr algn="l" marL="720688" indent="-360344" lvl="1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Issue: Recovery entry and loan balance updates needed to occur simultaneously to prevent inconsistent data.</a:t>
            </a:r>
          </a:p>
          <a:p>
            <a:pPr algn="l">
              <a:lnSpc>
                <a:spcPts val="4673"/>
              </a:lnSpc>
            </a:pPr>
          </a:p>
          <a:p>
            <a:pPr algn="l" marL="720688" indent="-360344" lvl="1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Solution: Implemented database transactions to ensure that payment insertion and balance update execute as a single atomic operation.</a:t>
            </a:r>
          </a:p>
          <a:p>
            <a:pPr algn="l">
              <a:lnSpc>
                <a:spcPts val="4673"/>
              </a:lnSpc>
            </a:pPr>
          </a:p>
          <a:p>
            <a:pPr algn="l">
              <a:lnSpc>
                <a:spcPts val="467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02603" y="5928366"/>
            <a:ext cx="12759036" cy="4160555"/>
          </a:xfrm>
          <a:custGeom>
            <a:avLst/>
            <a:gdLst/>
            <a:ahLst/>
            <a:cxnLst/>
            <a:rect r="r" b="b" t="t" l="l"/>
            <a:pathLst>
              <a:path h="4160555" w="12759036">
                <a:moveTo>
                  <a:pt x="0" y="0"/>
                </a:moveTo>
                <a:lnTo>
                  <a:pt x="12759036" y="0"/>
                </a:lnTo>
                <a:lnTo>
                  <a:pt x="12759036" y="4160555"/>
                </a:lnTo>
                <a:lnTo>
                  <a:pt x="0" y="4160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412" t="-7918" r="-8304" b="-146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1514" y="-24361"/>
            <a:ext cx="15526947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CHALLENGES &amp; SOLUTIONS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832243" y="-252631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8670" y="1927209"/>
            <a:ext cx="9287832" cy="695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Front-end / Interface: HTML, CSS, Java Script 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Frame Work : Laravel 12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Back-end : PHP, Java ,Date difference calculations and grading algorithm 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Database: MySQL ,tableplus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Software / IDE: VS Code, Figma , Tableplus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15396" y="1936983"/>
            <a:ext cx="7070434" cy="6941050"/>
          </a:xfrm>
          <a:custGeom>
            <a:avLst/>
            <a:gdLst/>
            <a:ahLst/>
            <a:cxnLst/>
            <a:rect r="r" b="b" t="t" l="l"/>
            <a:pathLst>
              <a:path h="6941050" w="7070434">
                <a:moveTo>
                  <a:pt x="0" y="0"/>
                </a:moveTo>
                <a:lnTo>
                  <a:pt x="7070434" y="0"/>
                </a:lnTo>
                <a:lnTo>
                  <a:pt x="7070434" y="6941049"/>
                </a:lnTo>
                <a:lnTo>
                  <a:pt x="0" y="694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59" r="0" b="-11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7942" y="310548"/>
            <a:ext cx="17700058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TOOLS AND TECHNOLOGIES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608196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920" y="52990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6670" y="3247808"/>
            <a:ext cx="15912630" cy="410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575" indent="-417788" lvl="1">
              <a:lnSpc>
                <a:spcPts val="5418"/>
              </a:lnSpc>
              <a:buFont typeface="Arial"/>
              <a:buChar char="•"/>
            </a:pPr>
            <a:r>
              <a:rPr lang="en-US" sz="387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Loan Recovery Management System simplifies and strengthens loan repayment tracking.</a:t>
            </a:r>
          </a:p>
          <a:p>
            <a:pPr algn="l">
              <a:lnSpc>
                <a:spcPts val="5418"/>
              </a:lnSpc>
            </a:pPr>
          </a:p>
          <a:p>
            <a:pPr algn="l" marL="835575" indent="-417788" lvl="1">
              <a:lnSpc>
                <a:spcPts val="5418"/>
              </a:lnSpc>
              <a:buFont typeface="Arial"/>
              <a:buChar char="•"/>
            </a:pPr>
            <a:r>
              <a:rPr lang="en-US" sz="387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Enhances accuracy, reduces risk</a:t>
            </a:r>
          </a:p>
          <a:p>
            <a:pPr algn="l">
              <a:lnSpc>
                <a:spcPts val="5418"/>
              </a:lnSpc>
            </a:pPr>
          </a:p>
          <a:p>
            <a:pPr algn="l" marL="835575" indent="-417788" lvl="1">
              <a:lnSpc>
                <a:spcPts val="5418"/>
              </a:lnSpc>
              <a:buFont typeface="Arial"/>
              <a:buChar char="•"/>
            </a:pPr>
            <a:r>
              <a:rPr lang="en-US" sz="387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valuable tool for any organization dealing with loans.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DAG5HTHG214</dc:identifier>
  <dcterms:modified xsi:type="dcterms:W3CDTF">2011-08-01T06:04:30Z</dcterms:modified>
  <cp:revision>1</cp:revision>
  <dc:title>LOAN RECOVERY MANAGEMENT</dc:title>
</cp:coreProperties>
</file>