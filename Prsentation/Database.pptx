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Semi-Bold" charset="1" panose="00000700000000000000"/>
      <p:regular r:id="rId19"/>
    </p:embeddedFont>
    <p:embeddedFont>
      <p:font typeface="Poppins Bold" charset="1" panose="00000800000000000000"/>
      <p:regular r:id="rId20"/>
    </p:embeddedFont>
    <p:embeddedFont>
      <p:font typeface="DM Sans" charset="1" panose="00000000000000000000"/>
      <p:regular r:id="rId21"/>
    </p:embeddedFont>
    <p:embeddedFont>
      <p:font typeface="DM Sans Bold" charset="1" panose="00000000000000000000"/>
      <p:regular r:id="rId22"/>
    </p:embeddedFont>
    <p:embeddedFont>
      <p:font typeface="Open Sans Bold" charset="1" panose="020B0806030504020204"/>
      <p:regular r:id="rId23"/>
    </p:embeddedFont>
    <p:embeddedFont>
      <p:font typeface="Open Sans Light" charset="1" panose="020B03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64825" y="-712357"/>
            <a:ext cx="22453902" cy="11711713"/>
            <a:chOff x="0" y="0"/>
            <a:chExt cx="5913785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900114" y="1917219"/>
            <a:ext cx="13066873" cy="579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 UNPATCHED PRODUCTION DATABASE</a:t>
            </a:r>
          </a:p>
          <a:p>
            <a:pPr algn="ctr">
              <a:lnSpc>
                <a:spcPts val="10918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72414" y="885678"/>
            <a:ext cx="17553286" cy="1186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3"/>
              </a:lnSpc>
            </a:pPr>
            <a:r>
              <a:rPr lang="en-US" sz="8591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GROUP MEMBERS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72851"/>
            <a:ext cx="10658044" cy="6585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5"/>
              </a:lnSpc>
            </a:pPr>
          </a:p>
          <a:p>
            <a:pPr algn="l">
              <a:lnSpc>
                <a:spcPts val="6184"/>
              </a:lnSpc>
            </a:pPr>
            <a:r>
              <a:rPr lang="en-US" sz="2944" spc="1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Hesara Liyanage  - D/ICT /25 /0130 </a:t>
            </a:r>
          </a:p>
          <a:p>
            <a:pPr algn="l">
              <a:lnSpc>
                <a:spcPts val="6184"/>
              </a:lnSpc>
            </a:pPr>
            <a:r>
              <a:rPr lang="en-US" sz="2944" spc="1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Yuwani Anuththara - D/ICT /25 /0121</a:t>
            </a:r>
          </a:p>
          <a:p>
            <a:pPr algn="l">
              <a:lnSpc>
                <a:spcPts val="6184"/>
              </a:lnSpc>
            </a:pPr>
            <a:r>
              <a:rPr lang="en-US" sz="2944" spc="1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K. A. S. Vithakshana - D/ICT /25 /0053</a:t>
            </a:r>
          </a:p>
          <a:p>
            <a:pPr algn="l">
              <a:lnSpc>
                <a:spcPts val="6184"/>
              </a:lnSpc>
            </a:pPr>
            <a:r>
              <a:rPr lang="en-US" sz="2944" spc="1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Umesha Jayalath - D/ICT /25 /0129</a:t>
            </a:r>
          </a:p>
          <a:p>
            <a:pPr algn="l">
              <a:lnSpc>
                <a:spcPts val="6184"/>
              </a:lnSpc>
            </a:pPr>
            <a:r>
              <a:rPr lang="en-US" sz="2944" spc="1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Sanduni Nayanathara -  D/ICT /25 /0122</a:t>
            </a:r>
          </a:p>
          <a:p>
            <a:pPr algn="l">
              <a:lnSpc>
                <a:spcPts val="6184"/>
              </a:lnSpc>
            </a:pPr>
            <a:r>
              <a:rPr lang="en-US" sz="2944" spc="1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Yasath Amasara - D/ICT /25 /0073</a:t>
            </a:r>
          </a:p>
          <a:p>
            <a:pPr algn="l">
              <a:lnSpc>
                <a:spcPts val="6184"/>
              </a:lnSpc>
            </a:pPr>
            <a:r>
              <a:rPr lang="en-US" sz="2944" spc="1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Bimsara Amarathunga - D/ICT /25 /0047</a:t>
            </a:r>
          </a:p>
          <a:p>
            <a:pPr algn="l">
              <a:lnSpc>
                <a:spcPts val="6184"/>
              </a:lnSpc>
            </a:pPr>
            <a:r>
              <a:rPr lang="en-US" sz="2944" spc="1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Sanduni Lakshani - D/ICT /25 /0002 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700" y="2272264"/>
            <a:ext cx="1916650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01456" y="710680"/>
            <a:ext cx="15608025" cy="8865640"/>
            <a:chOff x="0" y="0"/>
            <a:chExt cx="4719438" cy="26807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9438" cy="2680726"/>
            </a:xfrm>
            <a:custGeom>
              <a:avLst/>
              <a:gdLst/>
              <a:ahLst/>
              <a:cxnLst/>
              <a:rect r="r" b="b" t="t" l="l"/>
              <a:pathLst>
                <a:path h="2680726" w="4719438">
                  <a:moveTo>
                    <a:pt x="46130" y="0"/>
                  </a:moveTo>
                  <a:lnTo>
                    <a:pt x="4673308" y="0"/>
                  </a:lnTo>
                  <a:cubicBezTo>
                    <a:pt x="4698785" y="0"/>
                    <a:pt x="4719438" y="20653"/>
                    <a:pt x="4719438" y="46130"/>
                  </a:cubicBezTo>
                  <a:lnTo>
                    <a:pt x="4719438" y="2634596"/>
                  </a:lnTo>
                  <a:cubicBezTo>
                    <a:pt x="4719438" y="2646830"/>
                    <a:pt x="4714578" y="2658564"/>
                    <a:pt x="4705927" y="2667215"/>
                  </a:cubicBezTo>
                  <a:cubicBezTo>
                    <a:pt x="4697276" y="2675866"/>
                    <a:pt x="4685543" y="2680726"/>
                    <a:pt x="4673308" y="2680726"/>
                  </a:cubicBezTo>
                  <a:lnTo>
                    <a:pt x="46130" y="2680726"/>
                  </a:lnTo>
                  <a:cubicBezTo>
                    <a:pt x="33896" y="2680726"/>
                    <a:pt x="22162" y="2675866"/>
                    <a:pt x="13511" y="2667215"/>
                  </a:cubicBezTo>
                  <a:cubicBezTo>
                    <a:pt x="4860" y="2658564"/>
                    <a:pt x="0" y="2646830"/>
                    <a:pt x="0" y="2634596"/>
                  </a:cubicBezTo>
                  <a:lnTo>
                    <a:pt x="0" y="46130"/>
                  </a:lnTo>
                  <a:cubicBezTo>
                    <a:pt x="0" y="33896"/>
                    <a:pt x="4860" y="22162"/>
                    <a:pt x="13511" y="13511"/>
                  </a:cubicBezTo>
                  <a:cubicBezTo>
                    <a:pt x="22162" y="4860"/>
                    <a:pt x="33896" y="0"/>
                    <a:pt x="4613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9438" cy="2718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68498" y="1144315"/>
            <a:ext cx="10993743" cy="782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3"/>
              </a:lnSpc>
            </a:pPr>
            <a:r>
              <a:rPr lang="en-US" sz="55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The Situation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5991" y="2517790"/>
            <a:ext cx="17456017" cy="266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044" spc="2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junior developer discovers that a critical security vulnerability in the production database has remained unpatched for three months, but the manager refuses to prioritize fixing it.</a:t>
            </a:r>
          </a:p>
          <a:p>
            <a:pPr algn="l">
              <a:lnSpc>
                <a:spcPts val="49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038516" y="5632097"/>
            <a:ext cx="2986011" cy="74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3"/>
              </a:lnSpc>
              <a:spcBef>
                <a:spcPct val="0"/>
              </a:spcBef>
            </a:pPr>
            <a:r>
              <a:rPr lang="en-US" b="true" sz="4469" spc="7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Key Issue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5991" y="6839029"/>
            <a:ext cx="17456017" cy="67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3"/>
              </a:lnSpc>
              <a:spcBef>
                <a:spcPct val="0"/>
              </a:spcBef>
            </a:pPr>
            <a:r>
              <a:rPr lang="en-US" sz="4069" spc="6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company knowingly leaves a critical security risk unresolved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4120" y="1419884"/>
            <a:ext cx="17519761" cy="8474927"/>
            <a:chOff x="0" y="0"/>
            <a:chExt cx="5864884" cy="2837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64884" cy="2837052"/>
            </a:xfrm>
            <a:custGeom>
              <a:avLst/>
              <a:gdLst/>
              <a:ahLst/>
              <a:cxnLst/>
              <a:rect r="r" b="b" t="t" l="l"/>
              <a:pathLst>
                <a:path h="2837052" w="5864884">
                  <a:moveTo>
                    <a:pt x="22095" y="0"/>
                  </a:moveTo>
                  <a:lnTo>
                    <a:pt x="5842789" y="0"/>
                  </a:lnTo>
                  <a:cubicBezTo>
                    <a:pt x="5854992" y="0"/>
                    <a:pt x="5864884" y="9892"/>
                    <a:pt x="5864884" y="22095"/>
                  </a:cubicBezTo>
                  <a:lnTo>
                    <a:pt x="5864884" y="2814957"/>
                  </a:lnTo>
                  <a:cubicBezTo>
                    <a:pt x="5864884" y="2820817"/>
                    <a:pt x="5862556" y="2826437"/>
                    <a:pt x="5858413" y="2830580"/>
                  </a:cubicBezTo>
                  <a:cubicBezTo>
                    <a:pt x="5854269" y="2834724"/>
                    <a:pt x="5848649" y="2837052"/>
                    <a:pt x="5842789" y="2837052"/>
                  </a:cubicBezTo>
                  <a:lnTo>
                    <a:pt x="22095" y="2837052"/>
                  </a:lnTo>
                  <a:cubicBezTo>
                    <a:pt x="16235" y="2837052"/>
                    <a:pt x="10615" y="2834724"/>
                    <a:pt x="6471" y="2830580"/>
                  </a:cubicBezTo>
                  <a:cubicBezTo>
                    <a:pt x="2328" y="2826437"/>
                    <a:pt x="0" y="2820817"/>
                    <a:pt x="0" y="2814957"/>
                  </a:cubicBezTo>
                  <a:lnTo>
                    <a:pt x="0" y="22095"/>
                  </a:lnTo>
                  <a:cubicBezTo>
                    <a:pt x="0" y="16235"/>
                    <a:pt x="2328" y="10615"/>
                    <a:pt x="6471" y="6471"/>
                  </a:cubicBezTo>
                  <a:cubicBezTo>
                    <a:pt x="10615" y="2328"/>
                    <a:pt x="16235" y="0"/>
                    <a:pt x="22095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5864884" cy="2751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579639" y="627991"/>
            <a:ext cx="8537476" cy="791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7"/>
              </a:lnSpc>
            </a:pPr>
            <a:r>
              <a:rPr lang="en-US" sz="5172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Ethical Violation?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8208" y="1612220"/>
            <a:ext cx="17933901" cy="849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473" indent="-400236" lvl="1">
              <a:lnSpc>
                <a:spcPts val="5635"/>
              </a:lnSpc>
              <a:buFont typeface="Arial"/>
              <a:buChar char="•"/>
            </a:pPr>
            <a:r>
              <a:rPr lang="en-US" sz="3707" spc="2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</a:t>
            </a:r>
            <a:r>
              <a:rPr lang="en-US" sz="3707" spc="222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specific ethical violations are:</a:t>
            </a:r>
          </a:p>
          <a:p>
            <a:pPr algn="l">
              <a:lnSpc>
                <a:spcPts val="5635"/>
              </a:lnSpc>
            </a:pPr>
            <a:r>
              <a:rPr lang="en-US" sz="3707" spc="222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 </a:t>
            </a:r>
            <a:r>
              <a:rPr lang="en-US" b="true" sz="3707" spc="222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1. Negligence</a:t>
            </a:r>
          </a:p>
          <a:p>
            <a:pPr algn="l">
              <a:lnSpc>
                <a:spcPts val="5635"/>
              </a:lnSpc>
            </a:pPr>
            <a:r>
              <a:rPr lang="en-US" sz="3707" spc="222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Failing t</a:t>
            </a:r>
            <a:r>
              <a:rPr lang="en-US" sz="3707" spc="222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 act on a known and serious security risk.</a:t>
            </a:r>
          </a:p>
          <a:p>
            <a:pPr algn="l">
              <a:lnSpc>
                <a:spcPts val="5635"/>
              </a:lnSpc>
            </a:pPr>
            <a:r>
              <a:rPr lang="en-US" sz="3707" spc="222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  </a:t>
            </a:r>
            <a:r>
              <a:rPr lang="en-US" b="true" sz="3707" spc="222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2. Breach of Duty of Care</a:t>
            </a:r>
          </a:p>
          <a:p>
            <a:pPr algn="l">
              <a:lnSpc>
                <a:spcPts val="5635"/>
              </a:lnSpc>
            </a:pPr>
            <a:r>
              <a:rPr lang="en-US" sz="3707" spc="222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Manage</a:t>
            </a:r>
            <a:r>
              <a:rPr lang="en-US" sz="3707" spc="222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ment has a responsibility to protect customer and company data.</a:t>
            </a:r>
          </a:p>
          <a:p>
            <a:pPr algn="l">
              <a:lnSpc>
                <a:spcPts val="5635"/>
              </a:lnSpc>
            </a:pPr>
            <a:r>
              <a:rPr lang="en-US" sz="3707" spc="222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 </a:t>
            </a:r>
            <a:r>
              <a:rPr lang="en-US" b="true" sz="3707" spc="222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3707" spc="222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3. Professional Misconduct</a:t>
            </a:r>
          </a:p>
          <a:p>
            <a:pPr algn="l">
              <a:lnSpc>
                <a:spcPts val="5635"/>
              </a:lnSpc>
            </a:pPr>
            <a:r>
              <a:rPr lang="en-US" sz="3707" spc="222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Ign</a:t>
            </a:r>
            <a:r>
              <a:rPr lang="en-US" sz="3707" spc="222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oring a critical vulnerability violates professional standards in cybersecurity.</a:t>
            </a:r>
          </a:p>
          <a:p>
            <a:pPr algn="l">
              <a:lnSpc>
                <a:spcPts val="5635"/>
              </a:lnSpc>
            </a:pPr>
          </a:p>
          <a:p>
            <a:pPr algn="l">
              <a:lnSpc>
                <a:spcPts val="5635"/>
              </a:lnSpc>
            </a:pPr>
            <a:r>
              <a:rPr lang="en-US" sz="3707" spc="222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Main violation to emphasize: Negligence and Failure of Duty of Care</a:t>
            </a:r>
          </a:p>
          <a:p>
            <a:pPr algn="l">
              <a:lnSpc>
                <a:spcPts val="500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6479" y="2147819"/>
            <a:ext cx="17097503" cy="54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3882" spc="23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Impact on Customers</a:t>
            </a:r>
          </a:p>
          <a:p>
            <a:pPr algn="l">
              <a:lnSpc>
                <a:spcPts val="5241"/>
              </a:lnSpc>
            </a:pPr>
          </a:p>
          <a:p>
            <a:pPr algn="l" marL="838284" indent="-419142" lvl="1">
              <a:lnSpc>
                <a:spcPts val="5241"/>
              </a:lnSpc>
              <a:buFont typeface="Arial"/>
              <a:buChar char="•"/>
            </a:pPr>
            <a:r>
              <a:rPr lang="en-US" sz="3882" spc="23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Personal data may be exposed</a:t>
            </a:r>
          </a:p>
          <a:p>
            <a:pPr algn="l" marL="838284" indent="-419142" lvl="1">
              <a:lnSpc>
                <a:spcPts val="5241"/>
              </a:lnSpc>
              <a:buFont typeface="Arial"/>
              <a:buChar char="•"/>
            </a:pPr>
            <a:r>
              <a:rPr lang="en-US" sz="3882" spc="23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Risk of identity theft</a:t>
            </a:r>
          </a:p>
          <a:p>
            <a:pPr algn="l" marL="838284" indent="-419142" lvl="1">
              <a:lnSpc>
                <a:spcPts val="5241"/>
              </a:lnSpc>
              <a:buFont typeface="Arial"/>
              <a:buChar char="•"/>
            </a:pPr>
            <a:r>
              <a:rPr lang="en-US" sz="3882" spc="23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882" spc="23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Financial fraud</a:t>
            </a:r>
          </a:p>
          <a:p>
            <a:pPr algn="l" marL="838284" indent="-419142" lvl="1">
              <a:lnSpc>
                <a:spcPts val="5241"/>
              </a:lnSpc>
              <a:buFont typeface="Arial"/>
              <a:buChar char="•"/>
            </a:pPr>
            <a:r>
              <a:rPr lang="en-US" sz="3882" spc="23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Loss of privacy</a:t>
            </a:r>
          </a:p>
          <a:p>
            <a:pPr algn="l">
              <a:lnSpc>
                <a:spcPts val="5241"/>
              </a:lnSpc>
            </a:pPr>
          </a:p>
          <a:p>
            <a:pPr algn="just">
              <a:lnSpc>
                <a:spcPts val="2909"/>
              </a:lnSpc>
            </a:pPr>
          </a:p>
          <a:p>
            <a:pPr algn="just">
              <a:lnSpc>
                <a:spcPts val="290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2700804" y="3269757"/>
            <a:ext cx="15608025" cy="8865640"/>
            <a:chOff x="0" y="0"/>
            <a:chExt cx="4719438" cy="26807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19438" cy="2680726"/>
            </a:xfrm>
            <a:custGeom>
              <a:avLst/>
              <a:gdLst/>
              <a:ahLst/>
              <a:cxnLst/>
              <a:rect r="r" b="b" t="t" l="l"/>
              <a:pathLst>
                <a:path h="2680726" w="4719438">
                  <a:moveTo>
                    <a:pt x="46130" y="0"/>
                  </a:moveTo>
                  <a:lnTo>
                    <a:pt x="4673308" y="0"/>
                  </a:lnTo>
                  <a:cubicBezTo>
                    <a:pt x="4698785" y="0"/>
                    <a:pt x="4719438" y="20653"/>
                    <a:pt x="4719438" y="46130"/>
                  </a:cubicBezTo>
                  <a:lnTo>
                    <a:pt x="4719438" y="2634596"/>
                  </a:lnTo>
                  <a:cubicBezTo>
                    <a:pt x="4719438" y="2646830"/>
                    <a:pt x="4714578" y="2658564"/>
                    <a:pt x="4705927" y="2667215"/>
                  </a:cubicBezTo>
                  <a:cubicBezTo>
                    <a:pt x="4697276" y="2675866"/>
                    <a:pt x="4685543" y="2680726"/>
                    <a:pt x="4673308" y="2680726"/>
                  </a:cubicBezTo>
                  <a:lnTo>
                    <a:pt x="46130" y="2680726"/>
                  </a:lnTo>
                  <a:cubicBezTo>
                    <a:pt x="33896" y="2680726"/>
                    <a:pt x="22162" y="2675866"/>
                    <a:pt x="13511" y="2667215"/>
                  </a:cubicBezTo>
                  <a:cubicBezTo>
                    <a:pt x="4860" y="2658564"/>
                    <a:pt x="0" y="2646830"/>
                    <a:pt x="0" y="2634596"/>
                  </a:cubicBezTo>
                  <a:lnTo>
                    <a:pt x="0" y="46130"/>
                  </a:lnTo>
                  <a:cubicBezTo>
                    <a:pt x="0" y="33896"/>
                    <a:pt x="4860" y="22162"/>
                    <a:pt x="13511" y="13511"/>
                  </a:cubicBezTo>
                  <a:cubicBezTo>
                    <a:pt x="22162" y="4860"/>
                    <a:pt x="33896" y="0"/>
                    <a:pt x="4613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719438" cy="2718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071279" y="6502647"/>
            <a:ext cx="13188021" cy="3428885"/>
          </a:xfrm>
          <a:custGeom>
            <a:avLst/>
            <a:gdLst/>
            <a:ahLst/>
            <a:cxnLst/>
            <a:rect r="r" b="b" t="t" l="l"/>
            <a:pathLst>
              <a:path h="3428885" w="13188021">
                <a:moveTo>
                  <a:pt x="0" y="0"/>
                </a:moveTo>
                <a:lnTo>
                  <a:pt x="13188021" y="0"/>
                </a:lnTo>
                <a:lnTo>
                  <a:pt x="13188021" y="3428886"/>
                </a:lnTo>
                <a:lnTo>
                  <a:pt x="0" y="3428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6479" y="458959"/>
            <a:ext cx="17969142" cy="1101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3"/>
              </a:lnSpc>
            </a:pPr>
            <a:r>
              <a:rPr lang="en-US" b="true" sz="7038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Who is harmed ? (Customers)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6253" y="1856324"/>
            <a:ext cx="13663560" cy="852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6"/>
              </a:lnSpc>
              <a:spcBef>
                <a:spcPct val="0"/>
              </a:spcBef>
            </a:pPr>
            <a:r>
              <a:rPr lang="en-US" b="true" sz="3856" spc="23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Impact o</a:t>
            </a:r>
            <a:r>
              <a:rPr lang="en-US" b="true" sz="3856" spc="23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 Organization</a:t>
            </a:r>
          </a:p>
          <a:p>
            <a:pPr algn="l">
              <a:lnSpc>
                <a:spcPts val="5206"/>
              </a:lnSpc>
            </a:pPr>
          </a:p>
          <a:p>
            <a:pPr algn="l" marL="832597" indent="-416299" lvl="1">
              <a:lnSpc>
                <a:spcPts val="5206"/>
              </a:lnSpc>
              <a:buFont typeface="Arial"/>
              <a:buChar char="•"/>
            </a:pPr>
            <a:r>
              <a:rPr lang="en-US" sz="3856" spc="23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Legal penalties &amp; regulatory fines</a:t>
            </a:r>
          </a:p>
          <a:p>
            <a:pPr algn="l" marL="832597" indent="-416299" lvl="1">
              <a:lnSpc>
                <a:spcPts val="5206"/>
              </a:lnSpc>
              <a:buFont typeface="Arial"/>
              <a:buChar char="•"/>
            </a:pPr>
            <a:r>
              <a:rPr lang="en-US" sz="3856" spc="23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Lawsuits</a:t>
            </a:r>
          </a:p>
          <a:p>
            <a:pPr algn="l" marL="832597" indent="-416299" lvl="1">
              <a:lnSpc>
                <a:spcPts val="5206"/>
              </a:lnSpc>
              <a:buFont typeface="Arial"/>
              <a:buChar char="•"/>
            </a:pPr>
            <a:r>
              <a:rPr lang="en-US" sz="3856" spc="23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Reputation damage</a:t>
            </a:r>
          </a:p>
          <a:p>
            <a:pPr algn="l" marL="832597" indent="-416299" lvl="1">
              <a:lnSpc>
                <a:spcPts val="5206"/>
              </a:lnSpc>
              <a:buFont typeface="Arial"/>
              <a:buChar char="•"/>
            </a:pPr>
            <a:r>
              <a:rPr lang="en-US" sz="3856" spc="23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Customer loss</a:t>
            </a:r>
          </a:p>
          <a:p>
            <a:pPr algn="l">
              <a:lnSpc>
                <a:spcPts val="5206"/>
              </a:lnSpc>
              <a:spcBef>
                <a:spcPct val="0"/>
              </a:spcBef>
            </a:pPr>
          </a:p>
          <a:p>
            <a:pPr algn="l">
              <a:lnSpc>
                <a:spcPts val="5206"/>
              </a:lnSpc>
              <a:spcBef>
                <a:spcPct val="0"/>
              </a:spcBef>
            </a:pPr>
            <a:r>
              <a:rPr lang="en-US" b="true" sz="3856" spc="23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Impact on Employees</a:t>
            </a:r>
          </a:p>
          <a:p>
            <a:pPr algn="l">
              <a:lnSpc>
                <a:spcPts val="5206"/>
              </a:lnSpc>
              <a:spcBef>
                <a:spcPct val="0"/>
              </a:spcBef>
            </a:pPr>
          </a:p>
          <a:p>
            <a:pPr algn="l" marL="832597" indent="-416299" lvl="1">
              <a:lnSpc>
                <a:spcPts val="5206"/>
              </a:lnSpc>
              <a:buFont typeface="Arial"/>
              <a:buChar char="•"/>
            </a:pPr>
            <a:r>
              <a:rPr lang="en-US" sz="3856" spc="23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Job insecurity</a:t>
            </a:r>
          </a:p>
          <a:p>
            <a:pPr algn="l" marL="832597" indent="-416299" lvl="1">
              <a:lnSpc>
                <a:spcPts val="5206"/>
              </a:lnSpc>
              <a:buFont typeface="Arial"/>
              <a:buChar char="•"/>
            </a:pPr>
            <a:r>
              <a:rPr lang="en-US" sz="3856" spc="23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Ethical stress</a:t>
            </a:r>
          </a:p>
          <a:p>
            <a:pPr algn="l" marL="832597" indent="-416299" lvl="1">
              <a:lnSpc>
                <a:spcPts val="5206"/>
              </a:lnSpc>
              <a:buFont typeface="Arial"/>
              <a:buChar char="•"/>
            </a:pPr>
            <a:r>
              <a:rPr lang="en-US" sz="3856" spc="23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Professional damage</a:t>
            </a:r>
          </a:p>
          <a:p>
            <a:pPr algn="l">
              <a:lnSpc>
                <a:spcPts val="5206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3991479" y="-847565"/>
            <a:ext cx="15608025" cy="8865640"/>
            <a:chOff x="0" y="0"/>
            <a:chExt cx="4719438" cy="26807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19438" cy="2680726"/>
            </a:xfrm>
            <a:custGeom>
              <a:avLst/>
              <a:gdLst/>
              <a:ahLst/>
              <a:cxnLst/>
              <a:rect r="r" b="b" t="t" l="l"/>
              <a:pathLst>
                <a:path h="2680726" w="4719438">
                  <a:moveTo>
                    <a:pt x="46130" y="0"/>
                  </a:moveTo>
                  <a:lnTo>
                    <a:pt x="4673308" y="0"/>
                  </a:lnTo>
                  <a:cubicBezTo>
                    <a:pt x="4698785" y="0"/>
                    <a:pt x="4719438" y="20653"/>
                    <a:pt x="4719438" y="46130"/>
                  </a:cubicBezTo>
                  <a:lnTo>
                    <a:pt x="4719438" y="2634596"/>
                  </a:lnTo>
                  <a:cubicBezTo>
                    <a:pt x="4719438" y="2646830"/>
                    <a:pt x="4714578" y="2658564"/>
                    <a:pt x="4705927" y="2667215"/>
                  </a:cubicBezTo>
                  <a:cubicBezTo>
                    <a:pt x="4697276" y="2675866"/>
                    <a:pt x="4685543" y="2680726"/>
                    <a:pt x="4673308" y="2680726"/>
                  </a:cubicBezTo>
                  <a:lnTo>
                    <a:pt x="46130" y="2680726"/>
                  </a:lnTo>
                  <a:cubicBezTo>
                    <a:pt x="33896" y="2680726"/>
                    <a:pt x="22162" y="2675866"/>
                    <a:pt x="13511" y="2667215"/>
                  </a:cubicBezTo>
                  <a:cubicBezTo>
                    <a:pt x="4860" y="2658564"/>
                    <a:pt x="0" y="2646830"/>
                    <a:pt x="0" y="2634596"/>
                  </a:cubicBezTo>
                  <a:lnTo>
                    <a:pt x="0" y="46130"/>
                  </a:lnTo>
                  <a:cubicBezTo>
                    <a:pt x="0" y="33896"/>
                    <a:pt x="4860" y="22162"/>
                    <a:pt x="13511" y="13511"/>
                  </a:cubicBezTo>
                  <a:cubicBezTo>
                    <a:pt x="22162" y="4860"/>
                    <a:pt x="33896" y="0"/>
                    <a:pt x="4613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719438" cy="2718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165169" y="4344958"/>
            <a:ext cx="7094131" cy="4913342"/>
          </a:xfrm>
          <a:custGeom>
            <a:avLst/>
            <a:gdLst/>
            <a:ahLst/>
            <a:cxnLst/>
            <a:rect r="r" b="b" t="t" l="l"/>
            <a:pathLst>
              <a:path h="4913342" w="7094131">
                <a:moveTo>
                  <a:pt x="0" y="0"/>
                </a:moveTo>
                <a:lnTo>
                  <a:pt x="7094131" y="0"/>
                </a:lnTo>
                <a:lnTo>
                  <a:pt x="7094131" y="4913342"/>
                </a:lnTo>
                <a:lnTo>
                  <a:pt x="0" y="4913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3269" y="627991"/>
            <a:ext cx="15186644" cy="791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7"/>
              </a:lnSpc>
            </a:pPr>
            <a:r>
              <a:rPr lang="en-US" sz="5172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Who Is Harmed? (Company &amp; Employees)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03474"/>
            <a:ext cx="16587739" cy="7032200"/>
            <a:chOff x="0" y="0"/>
            <a:chExt cx="5015677" cy="21263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5677" cy="2126344"/>
            </a:xfrm>
            <a:custGeom>
              <a:avLst/>
              <a:gdLst/>
              <a:ahLst/>
              <a:cxnLst/>
              <a:rect r="r" b="b" t="t" l="l"/>
              <a:pathLst>
                <a:path h="2126344" w="5015677">
                  <a:moveTo>
                    <a:pt x="43405" y="0"/>
                  </a:moveTo>
                  <a:lnTo>
                    <a:pt x="4972271" y="0"/>
                  </a:lnTo>
                  <a:cubicBezTo>
                    <a:pt x="4996243" y="0"/>
                    <a:pt x="5015677" y="19433"/>
                    <a:pt x="5015677" y="43405"/>
                  </a:cubicBezTo>
                  <a:lnTo>
                    <a:pt x="5015677" y="2082939"/>
                  </a:lnTo>
                  <a:cubicBezTo>
                    <a:pt x="5015677" y="2106911"/>
                    <a:pt x="4996243" y="2126344"/>
                    <a:pt x="4972271" y="2126344"/>
                  </a:cubicBezTo>
                  <a:lnTo>
                    <a:pt x="43405" y="2126344"/>
                  </a:lnTo>
                  <a:cubicBezTo>
                    <a:pt x="19433" y="2126344"/>
                    <a:pt x="0" y="2106911"/>
                    <a:pt x="0" y="2082939"/>
                  </a:cubicBezTo>
                  <a:lnTo>
                    <a:pt x="0" y="43405"/>
                  </a:lnTo>
                  <a:cubicBezTo>
                    <a:pt x="0" y="19433"/>
                    <a:pt x="19433" y="0"/>
                    <a:pt x="43405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15677" cy="2164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43151" y="2747186"/>
            <a:ext cx="14045488" cy="732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9"/>
              </a:lnSpc>
            </a:pPr>
            <a:r>
              <a:rPr lang="en-US" b="true" sz="3096" spc="49">
                <a:solidFill>
                  <a:srgbClr val="1C2120"/>
                </a:solidFill>
                <a:latin typeface="DM Sans Bold"/>
                <a:ea typeface="DM Sans Bold"/>
                <a:cs typeface="DM Sans Bold"/>
                <a:sym typeface="DM Sans Bold"/>
              </a:rPr>
              <a:t>Immediate E</a:t>
            </a:r>
            <a:r>
              <a:rPr lang="en-US" b="true" sz="3096" spc="49" u="none">
                <a:solidFill>
                  <a:srgbClr val="1C2120"/>
                </a:solidFill>
                <a:latin typeface="DM Sans Bold"/>
                <a:ea typeface="DM Sans Bold"/>
                <a:cs typeface="DM Sans Bold"/>
                <a:sym typeface="DM Sans Bold"/>
              </a:rPr>
              <a:t>thical Actions</a:t>
            </a:r>
          </a:p>
          <a:p>
            <a:pPr algn="l">
              <a:lnSpc>
                <a:spcPts val="4179"/>
              </a:lnSpc>
            </a:pPr>
          </a:p>
          <a:p>
            <a:pPr algn="l">
              <a:lnSpc>
                <a:spcPts val="4179"/>
              </a:lnSpc>
            </a:pP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1. Document the vulnerability (CVE details &amp; risk level)</a:t>
            </a:r>
          </a:p>
          <a:p>
            <a:pPr algn="l">
              <a:lnSpc>
                <a:spcPts val="4179"/>
              </a:lnSpc>
              <a:spcBef>
                <a:spcPct val="0"/>
              </a:spcBef>
            </a:pP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2. Prepare written risk ass</a:t>
            </a: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ment</a:t>
            </a:r>
          </a:p>
          <a:p>
            <a:pPr algn="l">
              <a:lnSpc>
                <a:spcPts val="4179"/>
              </a:lnSpc>
              <a:spcBef>
                <a:spcPct val="0"/>
              </a:spcBef>
            </a:pP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3. Present impact analysis to manager</a:t>
            </a:r>
          </a:p>
          <a:p>
            <a:pPr algn="l">
              <a:lnSpc>
                <a:spcPts val="4179"/>
              </a:lnSpc>
              <a:spcBef>
                <a:spcPct val="0"/>
              </a:spcBef>
            </a:pP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4. </a:t>
            </a: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sc</a:t>
            </a: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al</a:t>
            </a: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at</a:t>
            </a: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 if ignored</a:t>
            </a: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</a:p>
          <a:p>
            <a:pPr algn="l">
              <a:lnSpc>
                <a:spcPts val="4179"/>
              </a:lnSpc>
              <a:spcBef>
                <a:spcPct val="0"/>
              </a:spcBef>
            </a:pPr>
          </a:p>
          <a:p>
            <a:pPr algn="l">
              <a:lnSpc>
                <a:spcPts val="4179"/>
              </a:lnSpc>
              <a:spcBef>
                <a:spcPct val="0"/>
              </a:spcBef>
            </a:pP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 Security Team</a:t>
            </a:r>
          </a:p>
          <a:p>
            <a:pPr algn="l">
              <a:lnSpc>
                <a:spcPts val="4179"/>
              </a:lnSpc>
              <a:spcBef>
                <a:spcPct val="0"/>
              </a:spcBef>
            </a:pP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 CTO</a:t>
            </a:r>
          </a:p>
          <a:p>
            <a:pPr algn="l" marL="0" indent="0" lvl="0">
              <a:lnSpc>
                <a:spcPts val="4179"/>
              </a:lnSpc>
              <a:spcBef>
                <a:spcPct val="0"/>
              </a:spcBef>
            </a:pP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 Compliance Officer</a:t>
            </a:r>
          </a:p>
          <a:p>
            <a:pPr algn="l" marL="0" indent="0" lvl="0">
              <a:lnSpc>
                <a:spcPts val="417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179"/>
              </a:lnSpc>
              <a:spcBef>
                <a:spcPct val="0"/>
              </a:spcBef>
            </a:pPr>
            <a:r>
              <a:rPr lang="en-US" sz="3096" spc="4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We would act responsibly and follow professional reporting procedures.</a:t>
            </a:r>
          </a:p>
          <a:p>
            <a:pPr algn="l" marL="0" indent="0" lvl="0">
              <a:lnSpc>
                <a:spcPts val="4179"/>
              </a:lnSpc>
              <a:spcBef>
                <a:spcPct val="0"/>
              </a:spcBef>
            </a:pPr>
          </a:p>
          <a:p>
            <a:pPr algn="l">
              <a:lnSpc>
                <a:spcPts val="417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778826" y="597636"/>
            <a:ext cx="13326698" cy="94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6"/>
              </a:lnSpc>
            </a:pPr>
            <a:r>
              <a:rPr lang="en-US" b="true" sz="68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How Would We Prevent It?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40388" y="-847565"/>
            <a:ext cx="15608025" cy="8865640"/>
            <a:chOff x="0" y="0"/>
            <a:chExt cx="4719438" cy="26807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9438" cy="2680726"/>
            </a:xfrm>
            <a:custGeom>
              <a:avLst/>
              <a:gdLst/>
              <a:ahLst/>
              <a:cxnLst/>
              <a:rect r="r" b="b" t="t" l="l"/>
              <a:pathLst>
                <a:path h="2680726" w="4719438">
                  <a:moveTo>
                    <a:pt x="46130" y="0"/>
                  </a:moveTo>
                  <a:lnTo>
                    <a:pt x="4673308" y="0"/>
                  </a:lnTo>
                  <a:cubicBezTo>
                    <a:pt x="4698785" y="0"/>
                    <a:pt x="4719438" y="20653"/>
                    <a:pt x="4719438" y="46130"/>
                  </a:cubicBezTo>
                  <a:lnTo>
                    <a:pt x="4719438" y="2634596"/>
                  </a:lnTo>
                  <a:cubicBezTo>
                    <a:pt x="4719438" y="2646830"/>
                    <a:pt x="4714578" y="2658564"/>
                    <a:pt x="4705927" y="2667215"/>
                  </a:cubicBezTo>
                  <a:cubicBezTo>
                    <a:pt x="4697276" y="2675866"/>
                    <a:pt x="4685543" y="2680726"/>
                    <a:pt x="4673308" y="2680726"/>
                  </a:cubicBezTo>
                  <a:lnTo>
                    <a:pt x="46130" y="2680726"/>
                  </a:lnTo>
                  <a:cubicBezTo>
                    <a:pt x="33896" y="2680726"/>
                    <a:pt x="22162" y="2675866"/>
                    <a:pt x="13511" y="2667215"/>
                  </a:cubicBezTo>
                  <a:cubicBezTo>
                    <a:pt x="4860" y="2658564"/>
                    <a:pt x="0" y="2646830"/>
                    <a:pt x="0" y="2634596"/>
                  </a:cubicBezTo>
                  <a:lnTo>
                    <a:pt x="0" y="46130"/>
                  </a:lnTo>
                  <a:cubicBezTo>
                    <a:pt x="0" y="33896"/>
                    <a:pt x="4860" y="22162"/>
                    <a:pt x="13511" y="13511"/>
                  </a:cubicBezTo>
                  <a:cubicBezTo>
                    <a:pt x="22162" y="4860"/>
                    <a:pt x="33896" y="0"/>
                    <a:pt x="4613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9438" cy="2718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171367" y="2249785"/>
            <a:ext cx="5399054" cy="5069662"/>
          </a:xfrm>
          <a:custGeom>
            <a:avLst/>
            <a:gdLst/>
            <a:ahLst/>
            <a:cxnLst/>
            <a:rect r="r" b="b" t="t" l="l"/>
            <a:pathLst>
              <a:path h="5069662" w="5399054">
                <a:moveTo>
                  <a:pt x="0" y="0"/>
                </a:moveTo>
                <a:lnTo>
                  <a:pt x="5399054" y="0"/>
                </a:lnTo>
                <a:lnTo>
                  <a:pt x="5399054" y="5069662"/>
                </a:lnTo>
                <a:lnTo>
                  <a:pt x="0" y="506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312" t="-306" r="-3413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7832" y="627991"/>
            <a:ext cx="15186644" cy="791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7"/>
              </a:lnSpc>
            </a:pPr>
            <a:r>
              <a:rPr lang="en-US" b="true" sz="5172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 Ethical Justification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4546" y="3176412"/>
            <a:ext cx="17983454" cy="2950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0551" indent="-455276" lvl="1">
              <a:lnSpc>
                <a:spcPts val="5904"/>
              </a:lnSpc>
              <a:buFont typeface="Arial"/>
              <a:buChar char="•"/>
            </a:pPr>
            <a:r>
              <a:rPr lang="en-US" sz="4217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Duty of Care</a:t>
            </a:r>
          </a:p>
          <a:p>
            <a:pPr algn="l" marL="910551" indent="-455276" lvl="1">
              <a:lnSpc>
                <a:spcPts val="5904"/>
              </a:lnSpc>
              <a:buFont typeface="Arial"/>
              <a:buChar char="•"/>
            </a:pPr>
            <a:r>
              <a:rPr lang="en-US" sz="4217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Professional Integrity</a:t>
            </a:r>
          </a:p>
          <a:p>
            <a:pPr algn="l" marL="910551" indent="-455276" lvl="1">
              <a:lnSpc>
                <a:spcPts val="5904"/>
              </a:lnSpc>
              <a:buFont typeface="Arial"/>
              <a:buChar char="•"/>
            </a:pPr>
            <a:r>
              <a:rPr lang="en-US" sz="4217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Public Interest First</a:t>
            </a:r>
          </a:p>
          <a:p>
            <a:pPr algn="l" marL="910551" indent="-455276" lvl="1">
              <a:lnSpc>
                <a:spcPts val="5904"/>
              </a:lnSpc>
              <a:buFont typeface="Arial"/>
              <a:buChar char="•"/>
            </a:pPr>
            <a:r>
              <a:rPr lang="en-US" sz="4217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 Non-maleficence (Do No Harm)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7832" y="7243247"/>
            <a:ext cx="17232336" cy="14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5"/>
              </a:lnSpc>
            </a:pPr>
            <a:r>
              <a:rPr lang="en-US" sz="4239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According to the ACM Code of Ethics,</a:t>
            </a:r>
          </a:p>
          <a:p>
            <a:pPr algn="l">
              <a:lnSpc>
                <a:spcPts val="5935"/>
              </a:lnSpc>
              <a:spcBef>
                <a:spcPct val="0"/>
              </a:spcBef>
            </a:pPr>
            <a:r>
              <a:rPr lang="en-US" sz="4239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public safety must come before business convenience.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2173585"/>
            <a:ext cx="6422976" cy="72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3"/>
              </a:lnSpc>
              <a:spcBef>
                <a:spcPct val="0"/>
              </a:spcBef>
            </a:pPr>
            <a:r>
              <a:rPr lang="en-US" b="true" sz="4273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Ethical Principles: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7829" y="512141"/>
            <a:ext cx="25143911" cy="3062540"/>
            <a:chOff x="0" y="0"/>
            <a:chExt cx="7602828" cy="9260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02828" cy="926028"/>
            </a:xfrm>
            <a:custGeom>
              <a:avLst/>
              <a:gdLst/>
              <a:ahLst/>
              <a:cxnLst/>
              <a:rect r="r" b="b" t="t" l="l"/>
              <a:pathLst>
                <a:path h="926028" w="7602828">
                  <a:moveTo>
                    <a:pt x="20014" y="0"/>
                  </a:moveTo>
                  <a:lnTo>
                    <a:pt x="7582815" y="0"/>
                  </a:lnTo>
                  <a:cubicBezTo>
                    <a:pt x="7593867" y="0"/>
                    <a:pt x="7602828" y="8960"/>
                    <a:pt x="7602828" y="20014"/>
                  </a:cubicBezTo>
                  <a:lnTo>
                    <a:pt x="7602828" y="906014"/>
                  </a:lnTo>
                  <a:cubicBezTo>
                    <a:pt x="7602828" y="911322"/>
                    <a:pt x="7600720" y="916413"/>
                    <a:pt x="7596967" y="920166"/>
                  </a:cubicBezTo>
                  <a:cubicBezTo>
                    <a:pt x="7593213" y="923920"/>
                    <a:pt x="7588122" y="926028"/>
                    <a:pt x="7582815" y="926028"/>
                  </a:cubicBezTo>
                  <a:lnTo>
                    <a:pt x="20014" y="926028"/>
                  </a:lnTo>
                  <a:cubicBezTo>
                    <a:pt x="14706" y="926028"/>
                    <a:pt x="9615" y="923920"/>
                    <a:pt x="5862" y="920166"/>
                  </a:cubicBezTo>
                  <a:cubicBezTo>
                    <a:pt x="2109" y="916413"/>
                    <a:pt x="0" y="911322"/>
                    <a:pt x="0" y="906014"/>
                  </a:cubicBezTo>
                  <a:lnTo>
                    <a:pt x="0" y="20014"/>
                  </a:lnTo>
                  <a:cubicBezTo>
                    <a:pt x="0" y="14706"/>
                    <a:pt x="2109" y="9615"/>
                    <a:pt x="5862" y="5862"/>
                  </a:cubicBezTo>
                  <a:cubicBezTo>
                    <a:pt x="9615" y="2109"/>
                    <a:pt x="14706" y="0"/>
                    <a:pt x="20014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02828" cy="964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59197" y="1545343"/>
            <a:ext cx="13768752" cy="108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458"/>
              </a:lnSpc>
              <a:spcBef>
                <a:spcPct val="0"/>
              </a:spcBef>
            </a:pPr>
            <a:r>
              <a:rPr lang="en-US" b="true" sz="768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Systemic Prevention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7344308" y="4360349"/>
            <a:ext cx="25143911" cy="5413855"/>
            <a:chOff x="0" y="0"/>
            <a:chExt cx="7602828" cy="16370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02828" cy="1637001"/>
            </a:xfrm>
            <a:custGeom>
              <a:avLst/>
              <a:gdLst/>
              <a:ahLst/>
              <a:cxnLst/>
              <a:rect r="r" b="b" t="t" l="l"/>
              <a:pathLst>
                <a:path h="1637001" w="7602828">
                  <a:moveTo>
                    <a:pt x="20014" y="0"/>
                  </a:moveTo>
                  <a:lnTo>
                    <a:pt x="7582815" y="0"/>
                  </a:lnTo>
                  <a:cubicBezTo>
                    <a:pt x="7593867" y="0"/>
                    <a:pt x="7602828" y="8960"/>
                    <a:pt x="7602828" y="20014"/>
                  </a:cubicBezTo>
                  <a:lnTo>
                    <a:pt x="7602828" y="1616987"/>
                  </a:lnTo>
                  <a:cubicBezTo>
                    <a:pt x="7602828" y="1622295"/>
                    <a:pt x="7600720" y="1627386"/>
                    <a:pt x="7596967" y="1631139"/>
                  </a:cubicBezTo>
                  <a:cubicBezTo>
                    <a:pt x="7593213" y="1634892"/>
                    <a:pt x="7588122" y="1637001"/>
                    <a:pt x="7582815" y="1637001"/>
                  </a:cubicBezTo>
                  <a:lnTo>
                    <a:pt x="20014" y="1637001"/>
                  </a:lnTo>
                  <a:cubicBezTo>
                    <a:pt x="14706" y="1637001"/>
                    <a:pt x="9615" y="1634892"/>
                    <a:pt x="5862" y="1631139"/>
                  </a:cubicBezTo>
                  <a:cubicBezTo>
                    <a:pt x="2109" y="1627386"/>
                    <a:pt x="0" y="1622295"/>
                    <a:pt x="0" y="1616987"/>
                  </a:cubicBezTo>
                  <a:lnTo>
                    <a:pt x="0" y="20014"/>
                  </a:lnTo>
                  <a:cubicBezTo>
                    <a:pt x="0" y="14706"/>
                    <a:pt x="2109" y="9615"/>
                    <a:pt x="5862" y="5862"/>
                  </a:cubicBezTo>
                  <a:cubicBezTo>
                    <a:pt x="9615" y="2109"/>
                    <a:pt x="14706" y="0"/>
                    <a:pt x="20014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02828" cy="1675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7829" y="4577954"/>
            <a:ext cx="7199383" cy="231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7"/>
              </a:lnSpc>
            </a:pP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1️⃣ Patch Management Policy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Critical CVEs fixed within 7–14 days</a:t>
            </a:r>
          </a:p>
          <a:p>
            <a:pPr algn="l">
              <a:lnSpc>
                <a:spcPts val="342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577114" y="5126078"/>
            <a:ext cx="7545467" cy="1498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8"/>
              </a:lnSpc>
              <a:spcBef>
                <a:spcPct val="0"/>
              </a:spcBef>
            </a:pPr>
            <a:r>
              <a:rPr lang="en-US" b="true" sz="287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2️⃣ Risk-Based Vulnerability Management</a:t>
            </a:r>
          </a:p>
          <a:p>
            <a:pPr algn="l" marL="621204" indent="-310602" lvl="1">
              <a:lnSpc>
                <a:spcPts val="4028"/>
              </a:lnSpc>
              <a:buFont typeface="Arial"/>
              <a:buChar char="•"/>
            </a:pPr>
            <a:r>
              <a:rPr lang="en-US" sz="287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CVSS scoring</a:t>
            </a:r>
          </a:p>
          <a:p>
            <a:pPr algn="l" marL="621204" indent="-310602" lvl="1">
              <a:lnSpc>
                <a:spcPts val="4028"/>
              </a:lnSpc>
              <a:buFont typeface="Arial"/>
              <a:buChar char="•"/>
            </a:pPr>
            <a:r>
              <a:rPr lang="en-US" sz="287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Automated alerts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27648" y="6839869"/>
            <a:ext cx="623185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3️⃣ DevSecOps Culture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Security integrated into CI/CD pipelines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8939477"/>
            <a:ext cx="8785464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Security must be mandatory — not optional.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672959" y="4297419"/>
            <a:ext cx="4569262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Long-T</a:t>
            </a:r>
            <a:r>
              <a:rPr lang="en-US" sz="359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erm Prevention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512141"/>
            <a:ext cx="16587739" cy="3062540"/>
            <a:chOff x="0" y="0"/>
            <a:chExt cx="5015677" cy="9260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5677" cy="926028"/>
            </a:xfrm>
            <a:custGeom>
              <a:avLst/>
              <a:gdLst/>
              <a:ahLst/>
              <a:cxnLst/>
              <a:rect r="r" b="b" t="t" l="l"/>
              <a:pathLst>
                <a:path h="926028" w="5015677">
                  <a:moveTo>
                    <a:pt x="30337" y="0"/>
                  </a:moveTo>
                  <a:lnTo>
                    <a:pt x="4985339" y="0"/>
                  </a:lnTo>
                  <a:cubicBezTo>
                    <a:pt x="5002094" y="0"/>
                    <a:pt x="5015677" y="13582"/>
                    <a:pt x="5015677" y="30337"/>
                  </a:cubicBezTo>
                  <a:lnTo>
                    <a:pt x="5015677" y="895691"/>
                  </a:lnTo>
                  <a:cubicBezTo>
                    <a:pt x="5015677" y="903737"/>
                    <a:pt x="5012480" y="911453"/>
                    <a:pt x="5006791" y="917143"/>
                  </a:cubicBezTo>
                  <a:cubicBezTo>
                    <a:pt x="5001102" y="922832"/>
                    <a:pt x="4993386" y="926028"/>
                    <a:pt x="4985339" y="926028"/>
                  </a:cubicBezTo>
                  <a:lnTo>
                    <a:pt x="30337" y="926028"/>
                  </a:lnTo>
                  <a:cubicBezTo>
                    <a:pt x="22291" y="926028"/>
                    <a:pt x="14575" y="922832"/>
                    <a:pt x="8886" y="917143"/>
                  </a:cubicBezTo>
                  <a:cubicBezTo>
                    <a:pt x="3196" y="911453"/>
                    <a:pt x="0" y="903737"/>
                    <a:pt x="0" y="895691"/>
                  </a:cubicBezTo>
                  <a:lnTo>
                    <a:pt x="0" y="30337"/>
                  </a:lnTo>
                  <a:cubicBezTo>
                    <a:pt x="0" y="22291"/>
                    <a:pt x="3196" y="14575"/>
                    <a:pt x="8886" y="8886"/>
                  </a:cubicBezTo>
                  <a:cubicBezTo>
                    <a:pt x="14575" y="3196"/>
                    <a:pt x="22291" y="0"/>
                    <a:pt x="30337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15677" cy="964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59197" y="1545343"/>
            <a:ext cx="12924292" cy="108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458"/>
              </a:lnSpc>
              <a:spcBef>
                <a:spcPct val="0"/>
              </a:spcBef>
            </a:pPr>
            <a:r>
              <a:rPr lang="en-US" b="true" sz="7689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Governance Frameworks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8741" y="6353911"/>
            <a:ext cx="7755259" cy="109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011" indent="-351005" lvl="1">
              <a:lnSpc>
                <a:spcPts val="4389"/>
              </a:lnSpc>
              <a:buFont typeface="Arial"/>
              <a:buChar char="•"/>
            </a:pPr>
            <a:r>
              <a:rPr lang="en-US" sz="3251" spc="1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ISO 27001</a:t>
            </a:r>
          </a:p>
          <a:p>
            <a:pPr algn="l" marL="702011" indent="-351005" lvl="1">
              <a:lnSpc>
                <a:spcPts val="4389"/>
              </a:lnSpc>
              <a:spcBef>
                <a:spcPct val="0"/>
              </a:spcBef>
              <a:buFont typeface="Arial"/>
              <a:buChar char="•"/>
            </a:pPr>
            <a:r>
              <a:rPr lang="en-US" sz="3251" spc="1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NIST 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yb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ecur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ity Fra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77370" y="6601466"/>
            <a:ext cx="7292669" cy="164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011" indent="-351005" lvl="1">
              <a:lnSpc>
                <a:spcPts val="4389"/>
              </a:lnSpc>
              <a:spcBef>
                <a:spcPct val="0"/>
              </a:spcBef>
              <a:buFont typeface="Arial"/>
              <a:buChar char="•"/>
            </a:pPr>
            <a:r>
              <a:rPr lang="en-US" sz="3251" spc="1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Struct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ured securi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ty 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controls</a:t>
            </a:r>
          </a:p>
          <a:p>
            <a:pPr algn="l" marL="702011" indent="-351005" lvl="1">
              <a:lnSpc>
                <a:spcPts val="4389"/>
              </a:lnSpc>
              <a:spcBef>
                <a:spcPct val="0"/>
              </a:spcBef>
              <a:buFont typeface="Arial"/>
              <a:buChar char="•"/>
            </a:pP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Ri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sk m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nagement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gui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delines</a:t>
            </a:r>
          </a:p>
          <a:p>
            <a:pPr algn="l" marL="702011" indent="-351005" lvl="1">
              <a:lnSpc>
                <a:spcPts val="4389"/>
              </a:lnSpc>
              <a:spcBef>
                <a:spcPct val="0"/>
              </a:spcBef>
              <a:buFont typeface="Arial"/>
              <a:buChar char="•"/>
            </a:pP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Compl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iance</a:t>
            </a:r>
            <a:r>
              <a:rPr lang="en-US" sz="3251" spc="19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standards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77370" y="4664309"/>
            <a:ext cx="5428169" cy="1094078"/>
            <a:chOff x="0" y="0"/>
            <a:chExt cx="7237559" cy="145877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237559" cy="1458770"/>
              <a:chOff x="0" y="0"/>
              <a:chExt cx="2770469" cy="55840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70469" cy="558404"/>
              </a:xfrm>
              <a:custGeom>
                <a:avLst/>
                <a:gdLst/>
                <a:ahLst/>
                <a:cxnLst/>
                <a:rect r="r" b="b" t="t" l="l"/>
                <a:pathLst>
                  <a:path h="558404" w="2770469">
                    <a:moveTo>
                      <a:pt x="46773" y="0"/>
                    </a:moveTo>
                    <a:lnTo>
                      <a:pt x="2723696" y="0"/>
                    </a:lnTo>
                    <a:cubicBezTo>
                      <a:pt x="2736101" y="0"/>
                      <a:pt x="2747998" y="4928"/>
                      <a:pt x="2756770" y="13700"/>
                    </a:cubicBezTo>
                    <a:cubicBezTo>
                      <a:pt x="2765541" y="22471"/>
                      <a:pt x="2770469" y="34368"/>
                      <a:pt x="2770469" y="46773"/>
                    </a:cubicBezTo>
                    <a:lnTo>
                      <a:pt x="2770469" y="511630"/>
                    </a:lnTo>
                    <a:cubicBezTo>
                      <a:pt x="2770469" y="537462"/>
                      <a:pt x="2749528" y="558404"/>
                      <a:pt x="2723696" y="558404"/>
                    </a:cubicBezTo>
                    <a:lnTo>
                      <a:pt x="46773" y="558404"/>
                    </a:lnTo>
                    <a:cubicBezTo>
                      <a:pt x="34368" y="558404"/>
                      <a:pt x="22471" y="553476"/>
                      <a:pt x="13700" y="544704"/>
                    </a:cubicBezTo>
                    <a:cubicBezTo>
                      <a:pt x="4928" y="535932"/>
                      <a:pt x="0" y="524035"/>
                      <a:pt x="0" y="511630"/>
                    </a:cubicBezTo>
                    <a:lnTo>
                      <a:pt x="0" y="46773"/>
                    </a:lnTo>
                    <a:cubicBezTo>
                      <a:pt x="0" y="34368"/>
                      <a:pt x="4928" y="22471"/>
                      <a:pt x="13700" y="13700"/>
                    </a:cubicBezTo>
                    <a:cubicBezTo>
                      <a:pt x="22471" y="4928"/>
                      <a:pt x="34368" y="0"/>
                      <a:pt x="46773" y="0"/>
                    </a:cubicBezTo>
                    <a:close/>
                  </a:path>
                </a:pathLst>
              </a:custGeom>
              <a:solidFill>
                <a:srgbClr val="AAD7D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85725"/>
                <a:ext cx="2770469" cy="4726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16855" y="416077"/>
              <a:ext cx="6601757" cy="9242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8"/>
                </a:lnSpc>
              </a:pPr>
              <a:r>
                <a:rPr lang="en-US" sz="26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These frameworks provide:</a:t>
              </a:r>
            </a:p>
            <a:p>
              <a:pPr algn="ctr">
                <a:lnSpc>
                  <a:spcPts val="262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057494" y="4664309"/>
            <a:ext cx="5428169" cy="1113802"/>
            <a:chOff x="0" y="0"/>
            <a:chExt cx="2770469" cy="5684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70469" cy="568471"/>
            </a:xfrm>
            <a:custGeom>
              <a:avLst/>
              <a:gdLst/>
              <a:ahLst/>
              <a:cxnLst/>
              <a:rect r="r" b="b" t="t" l="l"/>
              <a:pathLst>
                <a:path h="568471" w="2770469">
                  <a:moveTo>
                    <a:pt x="47066" y="0"/>
                  </a:moveTo>
                  <a:lnTo>
                    <a:pt x="2723403" y="0"/>
                  </a:lnTo>
                  <a:cubicBezTo>
                    <a:pt x="2735886" y="0"/>
                    <a:pt x="2747857" y="4959"/>
                    <a:pt x="2756684" y="13785"/>
                  </a:cubicBezTo>
                  <a:cubicBezTo>
                    <a:pt x="2765510" y="22612"/>
                    <a:pt x="2770469" y="34583"/>
                    <a:pt x="2770469" y="47066"/>
                  </a:cubicBezTo>
                  <a:lnTo>
                    <a:pt x="2770469" y="521404"/>
                  </a:lnTo>
                  <a:cubicBezTo>
                    <a:pt x="2770469" y="547398"/>
                    <a:pt x="2749397" y="568471"/>
                    <a:pt x="2723403" y="568471"/>
                  </a:cubicBezTo>
                  <a:lnTo>
                    <a:pt x="47066" y="568471"/>
                  </a:lnTo>
                  <a:cubicBezTo>
                    <a:pt x="34583" y="568471"/>
                    <a:pt x="22612" y="563512"/>
                    <a:pt x="13785" y="554685"/>
                  </a:cubicBezTo>
                  <a:cubicBezTo>
                    <a:pt x="4959" y="545859"/>
                    <a:pt x="0" y="533887"/>
                    <a:pt x="0" y="521404"/>
                  </a:cubicBezTo>
                  <a:lnTo>
                    <a:pt x="0" y="47066"/>
                  </a:lnTo>
                  <a:cubicBezTo>
                    <a:pt x="0" y="34583"/>
                    <a:pt x="4959" y="22612"/>
                    <a:pt x="13785" y="13785"/>
                  </a:cubicBezTo>
                  <a:cubicBezTo>
                    <a:pt x="22612" y="4959"/>
                    <a:pt x="34583" y="0"/>
                    <a:pt x="47066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2770469" cy="482746"/>
            </a:xfrm>
            <a:prstGeom prst="rect">
              <a:avLst/>
            </a:prstGeom>
          </p:spPr>
          <p:txBody>
            <a:bodyPr anchor="ctr" rtlCol="false" tIns="33319" lIns="33319" bIns="33319" rIns="33319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295920" y="5067933"/>
            <a:ext cx="4951317" cy="363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2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Organizations should follow: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21287" y="2662033"/>
            <a:ext cx="14140231" cy="6087636"/>
            <a:chOff x="0" y="0"/>
            <a:chExt cx="4733559" cy="20378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33559" cy="2037886"/>
            </a:xfrm>
            <a:custGeom>
              <a:avLst/>
              <a:gdLst/>
              <a:ahLst/>
              <a:cxnLst/>
              <a:rect r="r" b="b" t="t" l="l"/>
              <a:pathLst>
                <a:path h="2037886" w="4733559">
                  <a:moveTo>
                    <a:pt x="27376" y="0"/>
                  </a:moveTo>
                  <a:lnTo>
                    <a:pt x="4706183" y="0"/>
                  </a:lnTo>
                  <a:cubicBezTo>
                    <a:pt x="4713444" y="0"/>
                    <a:pt x="4720407" y="2884"/>
                    <a:pt x="4725541" y="8018"/>
                  </a:cubicBezTo>
                  <a:cubicBezTo>
                    <a:pt x="4730674" y="13152"/>
                    <a:pt x="4733559" y="20115"/>
                    <a:pt x="4733559" y="27376"/>
                  </a:cubicBezTo>
                  <a:lnTo>
                    <a:pt x="4733559" y="2010511"/>
                  </a:lnTo>
                  <a:cubicBezTo>
                    <a:pt x="4733559" y="2017771"/>
                    <a:pt x="4730674" y="2024734"/>
                    <a:pt x="4725541" y="2029868"/>
                  </a:cubicBezTo>
                  <a:cubicBezTo>
                    <a:pt x="4720407" y="2035002"/>
                    <a:pt x="4713444" y="2037886"/>
                    <a:pt x="4706183" y="2037886"/>
                  </a:cubicBezTo>
                  <a:lnTo>
                    <a:pt x="27376" y="2037886"/>
                  </a:lnTo>
                  <a:cubicBezTo>
                    <a:pt x="12256" y="2037886"/>
                    <a:pt x="0" y="2025630"/>
                    <a:pt x="0" y="2010511"/>
                  </a:cubicBezTo>
                  <a:lnTo>
                    <a:pt x="0" y="27376"/>
                  </a:lnTo>
                  <a:cubicBezTo>
                    <a:pt x="0" y="20115"/>
                    <a:pt x="2884" y="13152"/>
                    <a:pt x="8018" y="8018"/>
                  </a:cubicBezTo>
                  <a:cubicBezTo>
                    <a:pt x="13152" y="2884"/>
                    <a:pt x="20115" y="0"/>
                    <a:pt x="27376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4733559" cy="1952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905659" y="732256"/>
            <a:ext cx="10476683" cy="161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1"/>
              </a:lnSpc>
            </a:pPr>
            <a:r>
              <a:rPr lang="en-US" b="true" sz="1163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40223" y="3220609"/>
            <a:ext cx="12241063" cy="430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1"/>
              </a:lnSpc>
            </a:pPr>
            <a:r>
              <a:rPr lang="en-US" sz="3898" spc="2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Cybersecurity is n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ot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just 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chnical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il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ity. It i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a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et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 o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ga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ion.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Ign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ring cri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ic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 vulnerabilities is negligence, and organizations must build systems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 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ec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rity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al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wa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ys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pr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ritiz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898" spc="23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3385900" y="3841928"/>
            <a:ext cx="23916068" cy="313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80"/>
              </a:lnSpc>
            </a:pPr>
            <a:r>
              <a:rPr lang="en-US" b="true" sz="24115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 Q &amp; 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263179" y="1877786"/>
            <a:ext cx="11761641" cy="7630365"/>
          </a:xfrm>
          <a:custGeom>
            <a:avLst/>
            <a:gdLst/>
            <a:ahLst/>
            <a:cxnLst/>
            <a:rect r="r" b="b" t="t" l="l"/>
            <a:pathLst>
              <a:path h="7630365" w="11761641">
                <a:moveTo>
                  <a:pt x="0" y="0"/>
                </a:moveTo>
                <a:lnTo>
                  <a:pt x="11761642" y="0"/>
                </a:lnTo>
                <a:lnTo>
                  <a:pt x="11761642" y="7630364"/>
                </a:lnTo>
                <a:lnTo>
                  <a:pt x="0" y="763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2017" y="3400568"/>
            <a:ext cx="11923966" cy="288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b="true" sz="12023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DAHAPzTU-LQ</dc:identifier>
  <dcterms:modified xsi:type="dcterms:W3CDTF">2011-08-01T06:04:30Z</dcterms:modified>
  <cp:revision>1</cp:revision>
  <dc:title>Blue Minimalist Project Presentation</dc:title>
</cp:coreProperties>
</file>