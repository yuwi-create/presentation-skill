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Bebas Neue" charset="1" panose="00000500000000000000"/>
      <p:regular r:id="rId18"/>
    </p:embeddedFont>
    <p:embeddedFont>
      <p:font typeface="Open Sauce" charset="1" panose="00000500000000000000"/>
      <p:regular r:id="rId19"/>
    </p:embeddedFont>
    <p:embeddedFont>
      <p:font typeface="Open Sauce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Relationship Id="rId4" Target="../media/image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09134" y="8797867"/>
            <a:ext cx="321564" cy="321564"/>
          </a:xfrm>
          <a:custGeom>
            <a:avLst/>
            <a:gdLst/>
            <a:ahLst/>
            <a:cxnLst/>
            <a:rect r="r" b="b" t="t" l="l"/>
            <a:pathLst>
              <a:path h="321564" w="321564">
                <a:moveTo>
                  <a:pt x="0" y="0"/>
                </a:moveTo>
                <a:lnTo>
                  <a:pt x="321563" y="0"/>
                </a:lnTo>
                <a:lnTo>
                  <a:pt x="321563" y="321563"/>
                </a:lnTo>
                <a:lnTo>
                  <a:pt x="0" y="321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3863707" y="-54061"/>
            <a:ext cx="4424293" cy="10395122"/>
            <a:chOff x="0" y="0"/>
            <a:chExt cx="1165246" cy="27378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65246" cy="2737810"/>
            </a:xfrm>
            <a:custGeom>
              <a:avLst/>
              <a:gdLst/>
              <a:ahLst/>
              <a:cxnLst/>
              <a:rect r="r" b="b" t="t" l="l"/>
              <a:pathLst>
                <a:path h="2737810" w="1165246">
                  <a:moveTo>
                    <a:pt x="0" y="0"/>
                  </a:moveTo>
                  <a:lnTo>
                    <a:pt x="1165246" y="0"/>
                  </a:lnTo>
                  <a:lnTo>
                    <a:pt x="1165246" y="2737810"/>
                  </a:lnTo>
                  <a:lnTo>
                    <a:pt x="0" y="2737810"/>
                  </a:lnTo>
                  <a:close/>
                </a:path>
              </a:pathLst>
            </a:custGeom>
            <a:solidFill>
              <a:srgbClr val="1E3D58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165246" cy="277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2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8201117" y="1871633"/>
            <a:ext cx="9384585" cy="7386667"/>
          </a:xfrm>
          <a:custGeom>
            <a:avLst/>
            <a:gdLst/>
            <a:ahLst/>
            <a:cxnLst/>
            <a:rect r="r" b="b" t="t" l="l"/>
            <a:pathLst>
              <a:path h="7386667" w="9384585">
                <a:moveTo>
                  <a:pt x="0" y="0"/>
                </a:moveTo>
                <a:lnTo>
                  <a:pt x="9384585" y="0"/>
                </a:lnTo>
                <a:lnTo>
                  <a:pt x="9384585" y="7386667"/>
                </a:lnTo>
                <a:lnTo>
                  <a:pt x="0" y="73866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511643"/>
            <a:ext cx="8878373" cy="2319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4"/>
              </a:lnSpc>
            </a:pPr>
            <a:r>
              <a:rPr lang="en-US" sz="20732" spc="-829">
                <a:solidFill>
                  <a:srgbClr val="1E3D58"/>
                </a:solidFill>
                <a:latin typeface="Bebas Neue"/>
                <a:ea typeface="Bebas Neue"/>
                <a:cs typeface="Bebas Neue"/>
                <a:sym typeface="Bebas Neue"/>
              </a:rPr>
              <a:t>v 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8827" y="8320480"/>
            <a:ext cx="6127967" cy="638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165"/>
              </a:lnSpc>
            </a:pPr>
            <a:r>
              <a:rPr lang="en-US" sz="3973" spc="-1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GROUP NUMBER - 7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E8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708963" y="1711574"/>
            <a:ext cx="12870074" cy="101130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32345" indent="-416172" lvl="1">
              <a:lnSpc>
                <a:spcPts val="7710"/>
              </a:lnSpc>
              <a:buFont typeface="Arial"/>
              <a:buChar char="•"/>
            </a:pPr>
            <a:r>
              <a:rPr lang="en-US" sz="3855" spc="-11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Sanduni Amarasingha - D/ICT/25/0002</a:t>
            </a:r>
          </a:p>
          <a:p>
            <a:pPr algn="l" marL="832345" indent="-416172" lvl="1">
              <a:lnSpc>
                <a:spcPts val="7710"/>
              </a:lnSpc>
              <a:buFont typeface="Arial"/>
              <a:buChar char="•"/>
            </a:pPr>
            <a:r>
              <a:rPr lang="en-US" sz="3855" spc="-11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Hansaja Damneth - D/ICT/25/0011</a:t>
            </a:r>
          </a:p>
          <a:p>
            <a:pPr algn="l" marL="832345" indent="-416172" lvl="1">
              <a:lnSpc>
                <a:spcPts val="7710"/>
              </a:lnSpc>
              <a:buFont typeface="Arial"/>
              <a:buChar char="•"/>
            </a:pPr>
            <a:r>
              <a:rPr lang="en-US" sz="3855" spc="-11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Aruna Praboda - D/ICT/25/0043</a:t>
            </a:r>
          </a:p>
          <a:p>
            <a:pPr algn="l" marL="832345" indent="-416172" lvl="1">
              <a:lnSpc>
                <a:spcPts val="7710"/>
              </a:lnSpc>
              <a:buFont typeface="Arial"/>
              <a:buChar char="•"/>
            </a:pPr>
            <a:r>
              <a:rPr lang="en-US" sz="3855" spc="-11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Yasath Amasara -D/ICT/25/0074</a:t>
            </a:r>
          </a:p>
          <a:p>
            <a:pPr algn="l" marL="832345" indent="-416172" lvl="1">
              <a:lnSpc>
                <a:spcPts val="7710"/>
              </a:lnSpc>
              <a:buFont typeface="Arial"/>
              <a:buChar char="•"/>
            </a:pPr>
            <a:r>
              <a:rPr lang="en-US" sz="3855" spc="-11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Yuwani Anuththara -D/ICT/25/0121</a:t>
            </a:r>
          </a:p>
          <a:p>
            <a:pPr algn="l" marL="832345" indent="-416172" lvl="1">
              <a:lnSpc>
                <a:spcPts val="7710"/>
              </a:lnSpc>
              <a:buFont typeface="Arial"/>
              <a:buChar char="•"/>
            </a:pPr>
            <a:r>
              <a:rPr lang="en-US" sz="3855" spc="-11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Sanduni Handagama -D/ICT/25/0122</a:t>
            </a:r>
          </a:p>
          <a:p>
            <a:pPr algn="l" marL="832345" indent="-416172" lvl="1">
              <a:lnSpc>
                <a:spcPts val="7710"/>
              </a:lnSpc>
              <a:buFont typeface="Arial"/>
              <a:buChar char="•"/>
            </a:pPr>
            <a:r>
              <a:rPr lang="en-US" sz="3855" spc="-11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Umesha Nethmini -D/ICT/25/0129</a:t>
            </a:r>
          </a:p>
          <a:p>
            <a:pPr algn="l" marL="832345" indent="-416172" lvl="1">
              <a:lnSpc>
                <a:spcPts val="7710"/>
              </a:lnSpc>
              <a:buFont typeface="Arial"/>
              <a:buChar char="•"/>
            </a:pPr>
            <a:r>
              <a:rPr lang="en-US" sz="3855" spc="-11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Hesara Liyanage -D/ICT/25/0130</a:t>
            </a:r>
          </a:p>
          <a:p>
            <a:pPr algn="l" marL="227840" indent="-113920" lvl="1">
              <a:lnSpc>
                <a:spcPts val="2110"/>
              </a:lnSpc>
              <a:buFont typeface="Arial"/>
              <a:buChar char="•"/>
            </a:pPr>
          </a:p>
          <a:p>
            <a:pPr algn="l" marL="227840" indent="-113920" lvl="1">
              <a:lnSpc>
                <a:spcPts val="2110"/>
              </a:lnSpc>
              <a:buFont typeface="Arial"/>
              <a:buChar char="•"/>
            </a:pPr>
          </a:p>
          <a:p>
            <a:pPr algn="l">
              <a:lnSpc>
                <a:spcPts val="1371"/>
              </a:lnSpc>
            </a:pPr>
          </a:p>
          <a:p>
            <a:pPr algn="l">
              <a:lnSpc>
                <a:spcPts val="1371"/>
              </a:lnSpc>
            </a:pPr>
          </a:p>
          <a:p>
            <a:pPr algn="l">
              <a:lnSpc>
                <a:spcPts val="1371"/>
              </a:lnSpc>
            </a:pPr>
          </a:p>
          <a:p>
            <a:pPr algn="l">
              <a:lnSpc>
                <a:spcPts val="1371"/>
              </a:lnSpc>
            </a:pPr>
          </a:p>
          <a:p>
            <a:pPr algn="l">
              <a:lnSpc>
                <a:spcPts val="1371"/>
              </a:lnSpc>
            </a:pPr>
          </a:p>
          <a:p>
            <a:pPr algn="l">
              <a:lnSpc>
                <a:spcPts val="1371"/>
              </a:lnSpc>
            </a:pPr>
          </a:p>
          <a:p>
            <a:pPr algn="l">
              <a:lnSpc>
                <a:spcPts val="1371"/>
              </a:lnSpc>
            </a:pPr>
          </a:p>
          <a:p>
            <a:pPr algn="l">
              <a:lnSpc>
                <a:spcPts val="1371"/>
              </a:lnSpc>
            </a:pPr>
          </a:p>
          <a:p>
            <a:pPr algn="l">
              <a:lnSpc>
                <a:spcPts val="1371"/>
              </a:lnSpc>
            </a:pPr>
          </a:p>
          <a:p>
            <a:pPr algn="l">
              <a:lnSpc>
                <a:spcPts val="1371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1028700" y="833369"/>
            <a:ext cx="1165864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5"/>
              </a:lnSpc>
            </a:pPr>
            <a:r>
              <a:rPr lang="en-US" sz="10500" spc="-420">
                <a:solidFill>
                  <a:srgbClr val="1E3D58"/>
                </a:solidFill>
                <a:latin typeface="Bebas Neue"/>
                <a:ea typeface="Bebas Neue"/>
                <a:cs typeface="Bebas Neue"/>
                <a:sym typeface="Bebas Neue"/>
              </a:rPr>
              <a:t>Group members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D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89314" y="1167570"/>
            <a:ext cx="321564" cy="321564"/>
          </a:xfrm>
          <a:custGeom>
            <a:avLst/>
            <a:gdLst/>
            <a:ahLst/>
            <a:cxnLst/>
            <a:rect r="r" b="b" t="t" l="l"/>
            <a:pathLst>
              <a:path h="321564" w="321564">
                <a:moveTo>
                  <a:pt x="0" y="0"/>
                </a:moveTo>
                <a:lnTo>
                  <a:pt x="321564" y="0"/>
                </a:lnTo>
                <a:lnTo>
                  <a:pt x="321564" y="321563"/>
                </a:lnTo>
                <a:lnTo>
                  <a:pt x="0" y="321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047775"/>
            <a:ext cx="7796720" cy="1290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29"/>
              </a:lnSpc>
            </a:pPr>
            <a:r>
              <a:rPr lang="en-US" sz="10487" spc="-314">
                <a:solidFill>
                  <a:srgbClr val="E8EEF1"/>
                </a:solidFill>
                <a:latin typeface="Bebas Neue"/>
                <a:ea typeface="Bebas Neue"/>
                <a:cs typeface="Bebas Neue"/>
                <a:sym typeface="Bebas Neue"/>
              </a:rPr>
              <a:t>Introduction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5227521" y="1172459"/>
            <a:ext cx="1394619" cy="273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39"/>
              </a:lnSpc>
              <a:spcBef>
                <a:spcPct val="0"/>
              </a:spcBef>
            </a:pPr>
            <a:r>
              <a:rPr lang="en-US" sz="1599" spc="-47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Salford &amp; Co.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732395"/>
            <a:ext cx="15593439" cy="71434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7890" indent="-428945" lvl="1">
              <a:lnSpc>
                <a:spcPts val="5165"/>
              </a:lnSpc>
              <a:buFont typeface="Arial"/>
              <a:buChar char="•"/>
            </a:pPr>
            <a:r>
              <a:rPr lang="en-US" sz="3973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The V-M</a:t>
            </a:r>
            <a:r>
              <a:rPr lang="en-US" sz="3973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odel is a software development methodology where development and testing are planned together.</a:t>
            </a:r>
          </a:p>
          <a:p>
            <a:pPr algn="l">
              <a:lnSpc>
                <a:spcPts val="5165"/>
              </a:lnSpc>
            </a:pPr>
          </a:p>
          <a:p>
            <a:pPr algn="l" marL="857890" indent="-428945" lvl="1">
              <a:lnSpc>
                <a:spcPts val="5165"/>
              </a:lnSpc>
              <a:buFont typeface="Arial"/>
              <a:buChar char="•"/>
            </a:pPr>
            <a:r>
              <a:rPr lang="en-US" sz="3973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 It is called the V-Model because its process looks like the letter “V”.</a:t>
            </a:r>
          </a:p>
          <a:p>
            <a:pPr algn="l">
              <a:lnSpc>
                <a:spcPts val="5165"/>
              </a:lnSpc>
            </a:pPr>
          </a:p>
          <a:p>
            <a:pPr algn="l" marL="857890" indent="-428945" lvl="1">
              <a:lnSpc>
                <a:spcPts val="5165"/>
              </a:lnSpc>
              <a:buFont typeface="Arial"/>
              <a:buChar char="•"/>
            </a:pPr>
            <a:r>
              <a:rPr lang="en-US" sz="3973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 In this model, each development phase has a matching testing phase.</a:t>
            </a:r>
          </a:p>
          <a:p>
            <a:pPr algn="l">
              <a:lnSpc>
                <a:spcPts val="5165"/>
              </a:lnSpc>
            </a:pPr>
          </a:p>
          <a:p>
            <a:pPr algn="l" marL="857890" indent="-428945" lvl="1">
              <a:lnSpc>
                <a:spcPts val="5165"/>
              </a:lnSpc>
              <a:buFont typeface="Arial"/>
              <a:buChar char="•"/>
            </a:pPr>
            <a:r>
              <a:rPr lang="en-US" sz="3973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 The main goal of the V-Model is to detect errors early and deliver high-quality software.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89314" y="1167570"/>
            <a:ext cx="321564" cy="321564"/>
          </a:xfrm>
          <a:custGeom>
            <a:avLst/>
            <a:gdLst/>
            <a:ahLst/>
            <a:cxnLst/>
            <a:rect r="r" b="b" t="t" l="l"/>
            <a:pathLst>
              <a:path h="321564" w="321564">
                <a:moveTo>
                  <a:pt x="0" y="0"/>
                </a:moveTo>
                <a:lnTo>
                  <a:pt x="321564" y="0"/>
                </a:lnTo>
                <a:lnTo>
                  <a:pt x="321564" y="321563"/>
                </a:lnTo>
                <a:lnTo>
                  <a:pt x="0" y="321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833369"/>
            <a:ext cx="11658643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5"/>
              </a:lnSpc>
            </a:pPr>
            <a:r>
              <a:rPr lang="en-US" sz="10500" spc="-420">
                <a:solidFill>
                  <a:srgbClr val="1E3D58"/>
                </a:solidFill>
                <a:latin typeface="Bebas Neue"/>
                <a:ea typeface="Bebas Neue"/>
                <a:cs typeface="Bebas Neue"/>
                <a:sym typeface="Bebas Neue"/>
              </a:rPr>
              <a:t>Key Features of V-Model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2354727"/>
            <a:ext cx="15982178" cy="7572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1598" indent="-385799" lvl="1">
              <a:lnSpc>
                <a:spcPts val="4646"/>
              </a:lnSpc>
              <a:buFont typeface="Arial"/>
              <a:buChar char="•"/>
            </a:pPr>
            <a:r>
              <a:rPr lang="en-US" sz="3573" spc="-107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V</a:t>
            </a:r>
            <a:r>
              <a:rPr lang="en-US" sz="3573" spc="-107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erification &amp; Validation: Each development phase has a matching testing phase.</a:t>
            </a:r>
          </a:p>
          <a:p>
            <a:pPr algn="l" marL="771598" indent="-385799" lvl="1">
              <a:lnSpc>
                <a:spcPts val="4646"/>
              </a:lnSpc>
              <a:buFont typeface="Arial"/>
              <a:buChar char="•"/>
            </a:pPr>
            <a:r>
              <a:rPr lang="en-US" sz="3573" spc="-107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Sequential Process: Clear step-by-step flow from requirements to deployment.</a:t>
            </a:r>
          </a:p>
          <a:p>
            <a:pPr algn="l" marL="771598" indent="-385799" lvl="1">
              <a:lnSpc>
                <a:spcPts val="4646"/>
              </a:lnSpc>
              <a:buFont typeface="Arial"/>
              <a:buChar char="•"/>
            </a:pPr>
            <a:r>
              <a:rPr lang="en-US" sz="3573" spc="-107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Early Testing: Errors are detected and fixed early.</a:t>
            </a:r>
          </a:p>
          <a:p>
            <a:pPr algn="l" marL="771598" indent="-385799" lvl="1">
              <a:lnSpc>
                <a:spcPts val="4646"/>
              </a:lnSpc>
              <a:buFont typeface="Arial"/>
              <a:buChar char="•"/>
            </a:pPr>
            <a:r>
              <a:rPr lang="en-US" sz="3573" spc="-107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Clear Structure: Shaped like a “V”, showing development ↔ testing relationship.</a:t>
            </a:r>
          </a:p>
          <a:p>
            <a:pPr algn="l" marL="771598" indent="-385799" lvl="1">
              <a:lnSpc>
                <a:spcPts val="4646"/>
              </a:lnSpc>
              <a:buFont typeface="Arial"/>
              <a:buChar char="•"/>
            </a:pPr>
            <a:r>
              <a:rPr lang="en-US" sz="3573" spc="-107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High-Quality Software: Ensures software meets requirements and works correctly.</a:t>
            </a:r>
          </a:p>
          <a:p>
            <a:pPr algn="l" marL="771598" indent="-385799" lvl="1">
              <a:lnSpc>
                <a:spcPts val="4646"/>
              </a:lnSpc>
              <a:buFont typeface="Arial"/>
              <a:buChar char="•"/>
            </a:pPr>
            <a:r>
              <a:rPr lang="en-US" sz="3573" spc="-107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Easy to Understand: Each stage has defined tasks and outputs.</a:t>
            </a:r>
          </a:p>
          <a:p>
            <a:pPr algn="l" marL="771598" indent="-385799" lvl="1">
              <a:lnSpc>
                <a:spcPts val="4646"/>
              </a:lnSpc>
              <a:buFont typeface="Arial"/>
              <a:buChar char="•"/>
            </a:pPr>
            <a:r>
              <a:rPr lang="en-US" sz="3573" spc="-107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Documentation Focused: Every phase produces documents guiding the next step.</a:t>
            </a:r>
          </a:p>
          <a:p>
            <a:pPr algn="l">
              <a:lnSpc>
                <a:spcPts val="4646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475097" y="1028700"/>
            <a:ext cx="12713347" cy="8229600"/>
          </a:xfrm>
          <a:custGeom>
            <a:avLst/>
            <a:gdLst/>
            <a:ahLst/>
            <a:cxnLst/>
            <a:rect r="r" b="b" t="t" l="l"/>
            <a:pathLst>
              <a:path h="8229600" w="12713347">
                <a:moveTo>
                  <a:pt x="0" y="0"/>
                </a:moveTo>
                <a:lnTo>
                  <a:pt x="12713347" y="0"/>
                </a:lnTo>
                <a:lnTo>
                  <a:pt x="1271334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248" t="-3894" r="-1248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09134" y="8777547"/>
            <a:ext cx="321564" cy="321564"/>
          </a:xfrm>
          <a:custGeom>
            <a:avLst/>
            <a:gdLst/>
            <a:ahLst/>
            <a:cxnLst/>
            <a:rect r="r" b="b" t="t" l="l"/>
            <a:pathLst>
              <a:path h="321564" w="321564">
                <a:moveTo>
                  <a:pt x="0" y="0"/>
                </a:moveTo>
                <a:lnTo>
                  <a:pt x="321563" y="0"/>
                </a:lnTo>
                <a:lnTo>
                  <a:pt x="321563" y="321563"/>
                </a:lnTo>
                <a:lnTo>
                  <a:pt x="0" y="321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37446" y="2990826"/>
            <a:ext cx="6570767" cy="6381439"/>
          </a:xfrm>
          <a:custGeom>
            <a:avLst/>
            <a:gdLst/>
            <a:ahLst/>
            <a:cxnLst/>
            <a:rect r="r" b="b" t="t" l="l"/>
            <a:pathLst>
              <a:path h="6381439" w="6570767">
                <a:moveTo>
                  <a:pt x="0" y="0"/>
                </a:moveTo>
                <a:lnTo>
                  <a:pt x="6570767" y="0"/>
                </a:lnTo>
                <a:lnTo>
                  <a:pt x="6570767" y="6381439"/>
                </a:lnTo>
                <a:lnTo>
                  <a:pt x="0" y="638143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791" t="-8235" r="0" b="-782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107989"/>
            <a:ext cx="17259300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5"/>
              </a:lnSpc>
            </a:pPr>
            <a:r>
              <a:rPr lang="en-US" sz="10500" spc="-420">
                <a:solidFill>
                  <a:srgbClr val="1E3D58"/>
                </a:solidFill>
                <a:latin typeface="Bebas Neue"/>
                <a:ea typeface="Bebas Neue"/>
                <a:cs typeface="Bebas Neue"/>
                <a:sym typeface="Bebas Neue"/>
              </a:rPr>
              <a:t>Development Phases -</a:t>
            </a:r>
            <a:r>
              <a:rPr lang="en-US" sz="10500" spc="-420">
                <a:solidFill>
                  <a:srgbClr val="1E3D58"/>
                </a:solidFill>
                <a:latin typeface="Bebas Neue"/>
                <a:ea typeface="Bebas Neue"/>
                <a:cs typeface="Bebas Neue"/>
                <a:sym typeface="Bebas Neue"/>
              </a:rPr>
              <a:t>(Left Side of V-Model)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2445284"/>
            <a:ext cx="9804447" cy="69269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77284" indent="-388642" lvl="1">
              <a:lnSpc>
                <a:spcPts val="4680"/>
              </a:lnSpc>
              <a:buFont typeface="Arial"/>
              <a:buChar char="•"/>
            </a:pPr>
            <a:r>
              <a:rPr lang="en-US" sz="3600" spc="-108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Requi</a:t>
            </a:r>
            <a:r>
              <a:rPr lang="en-US" sz="3600" spc="-108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rement Analysis – Understand what the user needs.</a:t>
            </a:r>
          </a:p>
          <a:p>
            <a:pPr algn="l">
              <a:lnSpc>
                <a:spcPts val="4680"/>
              </a:lnSpc>
            </a:pPr>
          </a:p>
          <a:p>
            <a:pPr algn="l" marL="777284" indent="-388642" lvl="1">
              <a:lnSpc>
                <a:spcPts val="4680"/>
              </a:lnSpc>
              <a:buFont typeface="Arial"/>
              <a:buChar char="•"/>
            </a:pPr>
            <a:r>
              <a:rPr lang="en-US" sz="3600" spc="-108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System Design – Plan the overall system structure.</a:t>
            </a:r>
          </a:p>
          <a:p>
            <a:pPr algn="l">
              <a:lnSpc>
                <a:spcPts val="4680"/>
              </a:lnSpc>
            </a:pPr>
          </a:p>
          <a:p>
            <a:pPr algn="l" marL="777284" indent="-388642" lvl="1">
              <a:lnSpc>
                <a:spcPts val="4680"/>
              </a:lnSpc>
              <a:buFont typeface="Arial"/>
              <a:buChar char="•"/>
            </a:pPr>
            <a:r>
              <a:rPr lang="en-US" sz="3600" spc="-108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High-Level Design (HLD) – Break system into modules and define relationships.</a:t>
            </a:r>
          </a:p>
          <a:p>
            <a:pPr algn="l">
              <a:lnSpc>
                <a:spcPts val="4680"/>
              </a:lnSpc>
            </a:pPr>
          </a:p>
          <a:p>
            <a:pPr algn="l" marL="777284" indent="-388642" lvl="1">
              <a:lnSpc>
                <a:spcPts val="4680"/>
              </a:lnSpc>
              <a:buFont typeface="Arial"/>
              <a:buChar char="•"/>
            </a:pPr>
            <a:r>
              <a:rPr lang="en-US" sz="3600" spc="-108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Low-Level Design (LLD) – Detailed design of each module before coding.</a:t>
            </a:r>
          </a:p>
          <a:p>
            <a:pPr algn="l">
              <a:lnSpc>
                <a:spcPts val="4680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D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89314" y="1167570"/>
            <a:ext cx="321564" cy="321564"/>
          </a:xfrm>
          <a:custGeom>
            <a:avLst/>
            <a:gdLst/>
            <a:ahLst/>
            <a:cxnLst/>
            <a:rect r="r" b="b" t="t" l="l"/>
            <a:pathLst>
              <a:path h="321564" w="321564">
                <a:moveTo>
                  <a:pt x="0" y="0"/>
                </a:moveTo>
                <a:lnTo>
                  <a:pt x="321564" y="0"/>
                </a:lnTo>
                <a:lnTo>
                  <a:pt x="321564" y="321563"/>
                </a:lnTo>
                <a:lnTo>
                  <a:pt x="0" y="321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76675" y="2862433"/>
            <a:ext cx="6905354" cy="6828777"/>
          </a:xfrm>
          <a:custGeom>
            <a:avLst/>
            <a:gdLst/>
            <a:ahLst/>
            <a:cxnLst/>
            <a:rect r="r" b="b" t="t" l="l"/>
            <a:pathLst>
              <a:path h="6828777" w="6905354">
                <a:moveTo>
                  <a:pt x="0" y="0"/>
                </a:moveTo>
                <a:lnTo>
                  <a:pt x="6905354" y="0"/>
                </a:lnTo>
                <a:lnTo>
                  <a:pt x="6905354" y="6828777"/>
                </a:lnTo>
                <a:lnTo>
                  <a:pt x="0" y="682877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51293" b="-382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1040567"/>
            <a:ext cx="14198821" cy="10991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920"/>
              </a:lnSpc>
            </a:pPr>
            <a:r>
              <a:rPr lang="en-US" sz="9000" spc="-270">
                <a:solidFill>
                  <a:srgbClr val="E8EEF1"/>
                </a:solidFill>
                <a:latin typeface="Bebas Neue"/>
                <a:ea typeface="Bebas Neue"/>
                <a:cs typeface="Bebas Neue"/>
                <a:sym typeface="Bebas Neue"/>
              </a:rPr>
              <a:t>Testing Phases (Right Side of V-Model)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46226" y="2954887"/>
            <a:ext cx="10152479" cy="58169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7122" indent="-428561" lvl="1">
              <a:lnSpc>
                <a:spcPts val="5160"/>
              </a:lnSpc>
              <a:buFont typeface="Arial"/>
              <a:buChar char="•"/>
            </a:pPr>
            <a:r>
              <a:rPr lang="en-US" sz="3969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Unit T</a:t>
            </a:r>
            <a:r>
              <a:rPr lang="en-US" sz="3969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esting – Test individual modules for correctness.</a:t>
            </a:r>
          </a:p>
          <a:p>
            <a:pPr algn="l" marL="857122" indent="-428561" lvl="1">
              <a:lnSpc>
                <a:spcPts val="5160"/>
              </a:lnSpc>
              <a:buFont typeface="Arial"/>
              <a:buChar char="•"/>
            </a:pPr>
            <a:r>
              <a:rPr lang="en-US" sz="3969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Integration Testing – Test how modules work together.</a:t>
            </a:r>
          </a:p>
          <a:p>
            <a:pPr algn="l" marL="857122" indent="-428561" lvl="1">
              <a:lnSpc>
                <a:spcPts val="5160"/>
              </a:lnSpc>
              <a:buFont typeface="Arial"/>
              <a:buChar char="•"/>
            </a:pPr>
            <a:r>
              <a:rPr lang="en-US" sz="3969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System Testing – Test the complete system against requirements.</a:t>
            </a:r>
          </a:p>
          <a:p>
            <a:pPr algn="l" marL="857122" indent="-428561" lvl="1">
              <a:lnSpc>
                <a:spcPts val="5160"/>
              </a:lnSpc>
              <a:buFont typeface="Arial"/>
              <a:buChar char="•"/>
            </a:pPr>
            <a:r>
              <a:rPr lang="en-US" sz="3969" spc="-119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Acceptance Testing – Confirm software meets user needs and expectations.</a:t>
            </a:r>
          </a:p>
          <a:p>
            <a:pPr algn="l">
              <a:lnSpc>
                <a:spcPts val="5160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89314" y="1167570"/>
            <a:ext cx="321564" cy="321564"/>
          </a:xfrm>
          <a:custGeom>
            <a:avLst/>
            <a:gdLst/>
            <a:ahLst/>
            <a:cxnLst/>
            <a:rect r="r" b="b" t="t" l="l"/>
            <a:pathLst>
              <a:path h="321564" w="321564">
                <a:moveTo>
                  <a:pt x="0" y="0"/>
                </a:moveTo>
                <a:lnTo>
                  <a:pt x="321564" y="0"/>
                </a:lnTo>
                <a:lnTo>
                  <a:pt x="321564" y="321563"/>
                </a:lnTo>
                <a:lnTo>
                  <a:pt x="0" y="321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9568" y="756267"/>
            <a:ext cx="16007371" cy="9704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699"/>
              </a:lnSpc>
            </a:pPr>
            <a:r>
              <a:rPr lang="en-US" sz="8700" spc="-348">
                <a:solidFill>
                  <a:srgbClr val="1E3D58"/>
                </a:solidFill>
                <a:latin typeface="Bebas Neue"/>
                <a:ea typeface="Bebas Neue"/>
                <a:cs typeface="Bebas Neue"/>
                <a:sym typeface="Bebas Neue"/>
              </a:rPr>
              <a:t>Library Management System – V-Model Example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0" y="1907413"/>
            <a:ext cx="17010878" cy="83795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3190" spc="-95" b="true">
                <a:solidFill>
                  <a:srgbClr val="1E3D5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Devel</a:t>
            </a:r>
            <a:r>
              <a:rPr lang="en-US" b="true" sz="3190" spc="-95">
                <a:solidFill>
                  <a:srgbClr val="1E3D5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opment Phases (Left Side)</a:t>
            </a:r>
          </a:p>
          <a:p>
            <a:pPr algn="l">
              <a:lnSpc>
                <a:spcPts val="4147"/>
              </a:lnSpc>
            </a:pPr>
          </a:p>
          <a:p>
            <a:pPr algn="l" marL="688724" indent="-344362" lvl="1">
              <a:lnSpc>
                <a:spcPts val="4147"/>
              </a:lnSpc>
              <a:buFont typeface="Arial"/>
              <a:buChar char="•"/>
            </a:pPr>
            <a:r>
              <a:rPr lang="en-US" sz="3190" spc="-9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Requirement Analysis – Understand library needs (add, issue, return books)</a:t>
            </a:r>
          </a:p>
          <a:p>
            <a:pPr algn="l" marL="688724" indent="-344362" lvl="1">
              <a:lnSpc>
                <a:spcPts val="4147"/>
              </a:lnSpc>
              <a:buFont typeface="Arial"/>
              <a:buChar char="•"/>
            </a:pPr>
            <a:r>
              <a:rPr lang="en-US" sz="3190" spc="-9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System Design – Plan modules (Books, Members, Issue/Return, Reports)</a:t>
            </a:r>
          </a:p>
          <a:p>
            <a:pPr algn="l" marL="688724" indent="-344362" lvl="1">
              <a:lnSpc>
                <a:spcPts val="4147"/>
              </a:lnSpc>
              <a:buFont typeface="Arial"/>
              <a:buChar char="•"/>
            </a:pPr>
            <a:r>
              <a:rPr lang="en-US" sz="3190" spc="-9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High-Level Design – Define module interactions</a:t>
            </a:r>
          </a:p>
          <a:p>
            <a:pPr algn="l" marL="688724" indent="-344362" lvl="1">
              <a:lnSpc>
                <a:spcPts val="4147"/>
              </a:lnSpc>
              <a:buFont typeface="Arial"/>
              <a:buChar char="•"/>
            </a:pPr>
            <a:r>
              <a:rPr lang="en-US" sz="3190" spc="-9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Low-Level Design – Detailed design of each module and database</a:t>
            </a:r>
          </a:p>
          <a:p>
            <a:pPr algn="l">
              <a:lnSpc>
                <a:spcPts val="4147"/>
              </a:lnSpc>
            </a:pPr>
          </a:p>
          <a:p>
            <a:pPr algn="l">
              <a:lnSpc>
                <a:spcPts val="4147"/>
              </a:lnSpc>
            </a:pPr>
            <a:r>
              <a:rPr lang="en-US" b="true" sz="3190" spc="-95">
                <a:solidFill>
                  <a:srgbClr val="1E3D5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Coding</a:t>
            </a:r>
          </a:p>
          <a:p>
            <a:pPr algn="l" marL="688724" indent="-344362" lvl="1">
              <a:lnSpc>
                <a:spcPts val="4147"/>
              </a:lnSpc>
              <a:buFont typeface="Arial"/>
              <a:buChar char="•"/>
            </a:pPr>
            <a:r>
              <a:rPr lang="en-US" sz="3190" spc="-9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Implement all modules in code (Java, Python, etc.)</a:t>
            </a:r>
          </a:p>
          <a:p>
            <a:pPr algn="l">
              <a:lnSpc>
                <a:spcPts val="4147"/>
              </a:lnSpc>
            </a:pPr>
          </a:p>
          <a:p>
            <a:pPr algn="l">
              <a:lnSpc>
                <a:spcPts val="4147"/>
              </a:lnSpc>
            </a:pPr>
            <a:r>
              <a:rPr lang="en-US" b="true" sz="3190" spc="-95">
                <a:solidFill>
                  <a:srgbClr val="1E3D58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Testing Phases (Right Side)</a:t>
            </a:r>
          </a:p>
          <a:p>
            <a:pPr algn="l" marL="688724" indent="-344362" lvl="1">
              <a:lnSpc>
                <a:spcPts val="4147"/>
              </a:lnSpc>
              <a:buFont typeface="Arial"/>
              <a:buChar char="•"/>
            </a:pPr>
            <a:r>
              <a:rPr lang="en-US" sz="3190" spc="-9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Unit Testing – Test each module individually</a:t>
            </a:r>
          </a:p>
          <a:p>
            <a:pPr algn="l" marL="688724" indent="-344362" lvl="1">
              <a:lnSpc>
                <a:spcPts val="4147"/>
              </a:lnSpc>
              <a:buFont typeface="Arial"/>
              <a:buChar char="•"/>
            </a:pPr>
            <a:r>
              <a:rPr lang="en-US" sz="3190" spc="-9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Integration Testing – Test how modules work together</a:t>
            </a:r>
          </a:p>
          <a:p>
            <a:pPr algn="l" marL="688724" indent="-344362" lvl="1">
              <a:lnSpc>
                <a:spcPts val="4147"/>
              </a:lnSpc>
              <a:buFont typeface="Arial"/>
              <a:buChar char="•"/>
            </a:pPr>
            <a:r>
              <a:rPr lang="en-US" sz="3190" spc="-9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System Testing – Test the complete system</a:t>
            </a:r>
          </a:p>
          <a:p>
            <a:pPr algn="l" marL="688724" indent="-344362" lvl="1">
              <a:lnSpc>
                <a:spcPts val="4147"/>
              </a:lnSpc>
              <a:buFont typeface="Arial"/>
              <a:buChar char="•"/>
            </a:pPr>
            <a:r>
              <a:rPr lang="en-US" sz="3190" spc="-95">
                <a:solidFill>
                  <a:srgbClr val="1E3D58"/>
                </a:solidFill>
                <a:latin typeface="Open Sauce"/>
                <a:ea typeface="Open Sauce"/>
                <a:cs typeface="Open Sauce"/>
                <a:sym typeface="Open Sauce"/>
              </a:rPr>
              <a:t>Acceptance Testing – Confirm system meets library staff needs</a:t>
            </a:r>
          </a:p>
          <a:p>
            <a:pPr algn="l">
              <a:lnSpc>
                <a:spcPts val="4147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D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09134" y="1167570"/>
            <a:ext cx="321564" cy="321564"/>
          </a:xfrm>
          <a:custGeom>
            <a:avLst/>
            <a:gdLst/>
            <a:ahLst/>
            <a:cxnLst/>
            <a:rect r="r" b="b" t="t" l="l"/>
            <a:pathLst>
              <a:path h="321564" w="321564">
                <a:moveTo>
                  <a:pt x="0" y="0"/>
                </a:moveTo>
                <a:lnTo>
                  <a:pt x="321563" y="0"/>
                </a:lnTo>
                <a:lnTo>
                  <a:pt x="321563" y="321563"/>
                </a:lnTo>
                <a:lnTo>
                  <a:pt x="0" y="321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00038" y="951161"/>
            <a:ext cx="16887924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5"/>
              </a:lnSpc>
            </a:pPr>
            <a:r>
              <a:rPr lang="en-US" sz="10500" spc="-315">
                <a:solidFill>
                  <a:srgbClr val="E8EEF1"/>
                </a:solidFill>
                <a:latin typeface="Bebas Neue"/>
                <a:ea typeface="Bebas Neue"/>
                <a:cs typeface="Bebas Neue"/>
                <a:sym typeface="Bebas Neue"/>
              </a:rPr>
              <a:t>Advantages &amp; Disadvantages of V-Model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4883583"/>
            <a:ext cx="7628722" cy="29940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1" indent="-345435" lvl="1">
              <a:lnSpc>
                <a:spcPts val="4159"/>
              </a:lnSpc>
              <a:buFont typeface="Arial"/>
              <a:buChar char="•"/>
            </a:pP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Ea</a:t>
            </a: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sy to understand and use</a:t>
            </a:r>
          </a:p>
          <a:p>
            <a:pPr algn="l" marL="690871" indent="-345435" lvl="1">
              <a:lnSpc>
                <a:spcPts val="4159"/>
              </a:lnSpc>
              <a:buFont typeface="Arial"/>
              <a:buChar char="•"/>
            </a:pP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Early detection of errors</a:t>
            </a:r>
          </a:p>
          <a:p>
            <a:pPr algn="l" marL="690871" indent="-345435" lvl="1">
              <a:lnSpc>
                <a:spcPts val="4159"/>
              </a:lnSpc>
              <a:buFont typeface="Arial"/>
              <a:buChar char="•"/>
            </a:pP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Ensures high-quality software</a:t>
            </a:r>
          </a:p>
          <a:p>
            <a:pPr algn="l" marL="690871" indent="-345435" lvl="1">
              <a:lnSpc>
                <a:spcPts val="4159"/>
              </a:lnSpc>
              <a:buFont typeface="Arial"/>
              <a:buChar char="•"/>
            </a:pP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Each phase has clear deliverables</a:t>
            </a:r>
          </a:p>
          <a:p>
            <a:pPr algn="l" marL="690871" indent="-345435" lvl="1">
              <a:lnSpc>
                <a:spcPts val="4159"/>
              </a:lnSpc>
              <a:buFont typeface="Arial"/>
              <a:buChar char="•"/>
            </a:pP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Simple to manage</a:t>
            </a:r>
          </a:p>
          <a:p>
            <a:pPr algn="l">
              <a:lnSpc>
                <a:spcPts val="298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0193483" y="4883583"/>
            <a:ext cx="7394479" cy="3618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1" indent="-345435" lvl="1">
              <a:lnSpc>
                <a:spcPts val="4159"/>
              </a:lnSpc>
              <a:buFont typeface="Arial"/>
              <a:buChar char="•"/>
            </a:pP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N</a:t>
            </a: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ot flexible for changing requirements</a:t>
            </a:r>
          </a:p>
          <a:p>
            <a:pPr algn="l" marL="690871" indent="-345435" lvl="1">
              <a:lnSpc>
                <a:spcPts val="4159"/>
              </a:lnSpc>
              <a:buFont typeface="Arial"/>
              <a:buChar char="•"/>
            </a:pP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High risk for large projects</a:t>
            </a:r>
          </a:p>
          <a:p>
            <a:pPr algn="l" marL="690871" indent="-345435" lvl="1">
              <a:lnSpc>
                <a:spcPts val="4159"/>
              </a:lnSpc>
              <a:buFont typeface="Arial"/>
              <a:buChar char="•"/>
            </a:pP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Not suitable for complex/long projects</a:t>
            </a:r>
          </a:p>
          <a:p>
            <a:pPr algn="l" marL="690871" indent="-345435" lvl="1">
              <a:lnSpc>
                <a:spcPts val="4159"/>
              </a:lnSpc>
              <a:buFont typeface="Arial"/>
              <a:buChar char="•"/>
            </a:pPr>
            <a:r>
              <a:rPr lang="en-US" sz="3199" spc="-9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Requires very clear requirements</a:t>
            </a:r>
          </a:p>
          <a:p>
            <a:pPr algn="l">
              <a:lnSpc>
                <a:spcPts val="3769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815681" y="3069602"/>
            <a:ext cx="4572163" cy="7854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69"/>
              </a:lnSpc>
            </a:pPr>
            <a:r>
              <a:rPr lang="en-US" sz="4899" spc="-146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Advantages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472889" y="3056754"/>
            <a:ext cx="4347567" cy="8375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59"/>
              </a:lnSpc>
              <a:spcBef>
                <a:spcPct val="0"/>
              </a:spcBef>
            </a:pPr>
            <a:r>
              <a:rPr lang="en-US" sz="4899" spc="-146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Disa</a:t>
            </a:r>
            <a:r>
              <a:rPr lang="en-US" sz="4899" spc="-146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dvantages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8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09134" y="1167570"/>
            <a:ext cx="321564" cy="321564"/>
          </a:xfrm>
          <a:custGeom>
            <a:avLst/>
            <a:gdLst/>
            <a:ahLst/>
            <a:cxnLst/>
            <a:rect r="r" b="b" t="t" l="l"/>
            <a:pathLst>
              <a:path h="321564" w="321564">
                <a:moveTo>
                  <a:pt x="0" y="0"/>
                </a:moveTo>
                <a:lnTo>
                  <a:pt x="321563" y="0"/>
                </a:lnTo>
                <a:lnTo>
                  <a:pt x="321563" y="321563"/>
                </a:lnTo>
                <a:lnTo>
                  <a:pt x="0" y="321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661140" y="1125172"/>
            <a:ext cx="8476778" cy="11734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085"/>
              </a:lnSpc>
            </a:pPr>
            <a:r>
              <a:rPr lang="en-US" sz="10500" spc="-420">
                <a:solidFill>
                  <a:srgbClr val="1E3D58"/>
                </a:solidFill>
                <a:latin typeface="Bebas Neue"/>
                <a:ea typeface="Bebas Neue"/>
                <a:cs typeface="Bebas Neue"/>
                <a:sym typeface="Bebas Neue"/>
              </a:rPr>
              <a:t>When to Use V-Model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55171" y="2610354"/>
            <a:ext cx="16832829" cy="64646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7122" indent="-428561" lvl="1">
              <a:lnSpc>
                <a:spcPts val="5160"/>
              </a:lnSpc>
              <a:buFont typeface="Arial"/>
              <a:buChar char="•"/>
            </a:pPr>
            <a:r>
              <a:rPr lang="en-US" sz="3969" spc="-1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Small to m</a:t>
            </a:r>
            <a:r>
              <a:rPr lang="en-US" sz="3969" spc="-1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edium projects with clear requirements</a:t>
            </a:r>
          </a:p>
          <a:p>
            <a:pPr algn="l">
              <a:lnSpc>
                <a:spcPts val="5160"/>
              </a:lnSpc>
            </a:pPr>
          </a:p>
          <a:p>
            <a:pPr algn="l" marL="857122" indent="-428561" lvl="1">
              <a:lnSpc>
                <a:spcPts val="5160"/>
              </a:lnSpc>
              <a:buFont typeface="Arial"/>
              <a:buChar char="•"/>
            </a:pPr>
            <a:r>
              <a:rPr lang="en-US" sz="3969" spc="-1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Well-defined and fixed requirements that are unlikely to change</a:t>
            </a:r>
          </a:p>
          <a:p>
            <a:pPr algn="l">
              <a:lnSpc>
                <a:spcPts val="5160"/>
              </a:lnSpc>
            </a:pPr>
          </a:p>
          <a:p>
            <a:pPr algn="l" marL="857122" indent="-428561" lvl="1">
              <a:lnSpc>
                <a:spcPts val="5160"/>
              </a:lnSpc>
              <a:buFont typeface="Arial"/>
              <a:buChar char="•"/>
            </a:pPr>
            <a:r>
              <a:rPr lang="en-US" sz="3969" spc="-1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Safety-critical systems like banking, healthcare, or defense</a:t>
            </a:r>
          </a:p>
          <a:p>
            <a:pPr algn="l">
              <a:lnSpc>
                <a:spcPts val="5160"/>
              </a:lnSpc>
            </a:pPr>
          </a:p>
          <a:p>
            <a:pPr algn="l" marL="857122" indent="-428561" lvl="1">
              <a:lnSpc>
                <a:spcPts val="5160"/>
              </a:lnSpc>
              <a:buFont typeface="Arial"/>
              <a:buChar char="•"/>
            </a:pPr>
            <a:r>
              <a:rPr lang="en-US" sz="3969" spc="-1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Proj</a:t>
            </a:r>
            <a:r>
              <a:rPr lang="en-US" sz="3969" spc="-1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ects where early testing is important to ensure quality</a:t>
            </a:r>
          </a:p>
          <a:p>
            <a:pPr algn="l">
              <a:lnSpc>
                <a:spcPts val="5160"/>
              </a:lnSpc>
            </a:pPr>
          </a:p>
          <a:p>
            <a:pPr algn="l" marL="857122" indent="-428561" lvl="1">
              <a:lnSpc>
                <a:spcPts val="5160"/>
              </a:lnSpc>
              <a:buFont typeface="Arial"/>
              <a:buChar char="•"/>
            </a:pPr>
            <a:r>
              <a:rPr lang="en-US" sz="3969" spc="-119">
                <a:solidFill>
                  <a:srgbClr val="000000"/>
                </a:solidFill>
                <a:latin typeface="Open Sauce"/>
                <a:ea typeface="Open Sauce"/>
                <a:cs typeface="Open Sauce"/>
                <a:sym typeface="Open Sauce"/>
              </a:rPr>
              <a:t>When a structured and disciplined approach is needed</a:t>
            </a:r>
          </a:p>
          <a:p>
            <a:pPr algn="l">
              <a:lnSpc>
                <a:spcPts val="5160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1E3D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516092" y="316632"/>
            <a:ext cx="6208937" cy="181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700"/>
              </a:lnSpc>
              <a:spcBef>
                <a:spcPct val="0"/>
              </a:spcBef>
            </a:pPr>
            <a:r>
              <a:rPr lang="en-US" sz="10500" spc="-42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Co</a:t>
            </a:r>
            <a:r>
              <a:rPr lang="en-US" sz="10500" spc="-420">
                <a:solidFill>
                  <a:srgbClr val="FFFFFF"/>
                </a:solidFill>
                <a:latin typeface="Bebas Neue"/>
                <a:ea typeface="Bebas Neue"/>
                <a:cs typeface="Bebas Neue"/>
                <a:sym typeface="Bebas Neue"/>
              </a:rPr>
              <a:t>nclusion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764502" y="2647007"/>
            <a:ext cx="16494798" cy="72358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06765" indent="-453383" lvl="1">
              <a:lnSpc>
                <a:spcPts val="5459"/>
              </a:lnSpc>
              <a:buFont typeface="Arial"/>
              <a:buChar char="•"/>
            </a:pPr>
            <a:r>
              <a:rPr lang="en-US" sz="4199" spc="-12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V-Model is a </a:t>
            </a:r>
            <a:r>
              <a:rPr lang="en-US" sz="4199" spc="-12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structured software development methodology.</a:t>
            </a:r>
          </a:p>
          <a:p>
            <a:pPr algn="l">
              <a:lnSpc>
                <a:spcPts val="5459"/>
              </a:lnSpc>
            </a:pPr>
          </a:p>
          <a:p>
            <a:pPr algn="l" marL="906765" indent="-453383" lvl="1">
              <a:lnSpc>
                <a:spcPts val="5459"/>
              </a:lnSpc>
              <a:buFont typeface="Arial"/>
              <a:buChar char="•"/>
            </a:pPr>
            <a:r>
              <a:rPr lang="en-US" sz="4199" spc="-12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Focuses on verification and validation at every stage.</a:t>
            </a:r>
          </a:p>
          <a:p>
            <a:pPr algn="l">
              <a:lnSpc>
                <a:spcPts val="5459"/>
              </a:lnSpc>
            </a:pPr>
          </a:p>
          <a:p>
            <a:pPr algn="l" marL="906765" indent="-453383" lvl="1">
              <a:lnSpc>
                <a:spcPts val="5459"/>
              </a:lnSpc>
              <a:buFont typeface="Arial"/>
              <a:buChar char="•"/>
            </a:pPr>
            <a:r>
              <a:rPr lang="en-US" sz="4199" spc="-12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He</a:t>
            </a:r>
            <a:r>
              <a:rPr lang="en-US" sz="4199" spc="-12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lps detect errors early and ensures high-quality software.</a:t>
            </a:r>
          </a:p>
          <a:p>
            <a:pPr algn="l">
              <a:lnSpc>
                <a:spcPts val="5459"/>
              </a:lnSpc>
            </a:pPr>
          </a:p>
          <a:p>
            <a:pPr algn="l" marL="906765" indent="-453383" lvl="1">
              <a:lnSpc>
                <a:spcPts val="5459"/>
              </a:lnSpc>
              <a:buFont typeface="Arial"/>
              <a:buChar char="•"/>
            </a:pPr>
            <a:r>
              <a:rPr lang="en-US" sz="4199" spc="-12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Best suited for</a:t>
            </a:r>
            <a:r>
              <a:rPr lang="en-US" sz="4199" spc="-12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 projects with clear, fixed requirements.</a:t>
            </a:r>
          </a:p>
          <a:p>
            <a:pPr algn="l">
              <a:lnSpc>
                <a:spcPts val="5459"/>
              </a:lnSpc>
            </a:pPr>
          </a:p>
          <a:p>
            <a:pPr algn="l" marL="906765" indent="-453383" lvl="1">
              <a:lnSpc>
                <a:spcPts val="5459"/>
              </a:lnSpc>
              <a:buFont typeface="Arial"/>
              <a:buChar char="•"/>
            </a:pPr>
            <a:r>
              <a:rPr lang="en-US" sz="4199" spc="-125">
                <a:solidFill>
                  <a:srgbClr val="E8EEF1"/>
                </a:solidFill>
                <a:latin typeface="Open Sauce"/>
                <a:ea typeface="Open Sauce"/>
                <a:cs typeface="Open Sauce"/>
                <a:sym typeface="Open Sauce"/>
              </a:rPr>
              <a:t>Easy to understand, manage, and document, making it reliable for small to medium projects.</a:t>
            </a:r>
          </a:p>
          <a:p>
            <a:pPr algn="l">
              <a:lnSpc>
                <a:spcPts val="2989"/>
              </a:lnSpc>
            </a:pP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3D5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09134" y="1167570"/>
            <a:ext cx="321564" cy="321564"/>
          </a:xfrm>
          <a:custGeom>
            <a:avLst/>
            <a:gdLst/>
            <a:ahLst/>
            <a:cxnLst/>
            <a:rect r="r" b="b" t="t" l="l"/>
            <a:pathLst>
              <a:path h="321564" w="321564">
                <a:moveTo>
                  <a:pt x="0" y="0"/>
                </a:moveTo>
                <a:lnTo>
                  <a:pt x="321563" y="0"/>
                </a:lnTo>
                <a:lnTo>
                  <a:pt x="321563" y="321563"/>
                </a:lnTo>
                <a:lnTo>
                  <a:pt x="0" y="321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246273" y="3758722"/>
            <a:ext cx="11928280" cy="28954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88"/>
              </a:lnSpc>
            </a:pPr>
            <a:r>
              <a:rPr lang="en-US" sz="25958" spc="-778">
                <a:solidFill>
                  <a:srgbClr val="E8EEF1"/>
                </a:solidFill>
                <a:latin typeface="Bebas Neue"/>
                <a:ea typeface="Bebas Neue"/>
                <a:cs typeface="Bebas Neue"/>
                <a:sym typeface="Bebas Neue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DAG-81fY7e4</dc:identifier>
  <dcterms:modified xsi:type="dcterms:W3CDTF">2011-08-01T06:04:30Z</dcterms:modified>
  <cp:revision>1</cp:revision>
  <dc:title>Navy and White Simple Public Relations Presentation</dc:title>
</cp:coreProperties>
</file>