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utura Bold" charset="1" panose="020B0702020204020203"/>
      <p:regular r:id="rId16"/>
    </p:embeddedFon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Pattanakarn Expande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7.jpe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15022" y="7456849"/>
            <a:ext cx="9192380" cy="0"/>
          </a:xfrm>
          <a:prstGeom prst="line">
            <a:avLst/>
          </a:prstGeom>
          <a:ln cap="flat" w="19050">
            <a:solidFill>
              <a:srgbClr val="7E30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870869" y="2413340"/>
            <a:ext cx="9799138" cy="9799138"/>
          </a:xfrm>
          <a:custGeom>
            <a:avLst/>
            <a:gdLst/>
            <a:ahLst/>
            <a:cxnLst/>
            <a:rect r="r" b="b" t="t" l="l"/>
            <a:pathLst>
              <a:path h="9799138" w="9799138">
                <a:moveTo>
                  <a:pt x="0" y="0"/>
                </a:moveTo>
                <a:lnTo>
                  <a:pt x="9799138" y="0"/>
                </a:lnTo>
                <a:lnTo>
                  <a:pt x="9799138" y="9799138"/>
                </a:lnTo>
                <a:lnTo>
                  <a:pt x="0" y="9799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9333156">
            <a:off x="16007413" y="3751441"/>
            <a:ext cx="3448412" cy="3424484"/>
            <a:chOff x="0" y="0"/>
            <a:chExt cx="4597882" cy="456597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267598" cy="4565978"/>
              <a:chOff x="0" y="0"/>
              <a:chExt cx="759685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5968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9685">
                    <a:moveTo>
                      <a:pt x="379842" y="0"/>
                    </a:moveTo>
                    <a:cubicBezTo>
                      <a:pt x="170061" y="0"/>
                      <a:pt x="0" y="181951"/>
                      <a:pt x="0" y="406400"/>
                    </a:cubicBezTo>
                    <a:cubicBezTo>
                      <a:pt x="0" y="630849"/>
                      <a:pt x="170061" y="812800"/>
                      <a:pt x="379842" y="812800"/>
                    </a:cubicBezTo>
                    <a:cubicBezTo>
                      <a:pt x="589623" y="812800"/>
                      <a:pt x="759685" y="630849"/>
                      <a:pt x="759685" y="406400"/>
                    </a:cubicBezTo>
                    <a:cubicBezTo>
                      <a:pt x="759685" y="181951"/>
                      <a:pt x="589623" y="0"/>
                      <a:pt x="379842" y="0"/>
                    </a:cubicBezTo>
                    <a:close/>
                  </a:path>
                </a:pathLst>
              </a:custGeom>
              <a:ln w="38100" cap="sq">
                <a:solidFill>
                  <a:srgbClr val="7E30E1">
                    <a:alpha val="63922"/>
                  </a:srgbClr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1220" y="28575"/>
                <a:ext cx="617244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1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3526973" y="880111"/>
              <a:ext cx="1070909" cy="1070909"/>
            </a:xfrm>
            <a:custGeom>
              <a:avLst/>
              <a:gdLst/>
              <a:ahLst/>
              <a:cxnLst/>
              <a:rect r="r" b="b" t="t" l="l"/>
              <a:pathLst>
                <a:path h="1070909" w="1070909">
                  <a:moveTo>
                    <a:pt x="0" y="0"/>
                  </a:moveTo>
                  <a:lnTo>
                    <a:pt x="1070909" y="0"/>
                  </a:lnTo>
                  <a:lnTo>
                    <a:pt x="1070909" y="1070909"/>
                  </a:lnTo>
                  <a:lnTo>
                    <a:pt x="0" y="1070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816574"/>
            <a:ext cx="15238848" cy="521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98"/>
              </a:lnSpc>
            </a:pPr>
            <a:r>
              <a:rPr lang="en-US" sz="11591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INTRODUCTION </a:t>
            </a:r>
          </a:p>
          <a:p>
            <a:pPr algn="l">
              <a:lnSpc>
                <a:spcPts val="13098"/>
              </a:lnSpc>
            </a:pPr>
            <a:r>
              <a:rPr lang="en-US" sz="11591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TO AGILE METHODOLOGY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7615032" y="8600590"/>
            <a:ext cx="9192380" cy="9329"/>
          </a:xfrm>
          <a:prstGeom prst="line">
            <a:avLst/>
          </a:prstGeom>
          <a:ln cap="flat" w="19050">
            <a:solidFill>
              <a:srgbClr val="7E30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975980" y="1655097"/>
            <a:ext cx="3997864" cy="3997864"/>
          </a:xfrm>
          <a:custGeom>
            <a:avLst/>
            <a:gdLst/>
            <a:ahLst/>
            <a:cxnLst/>
            <a:rect r="r" b="b" t="t" l="l"/>
            <a:pathLst>
              <a:path h="3997864" w="3997864">
                <a:moveTo>
                  <a:pt x="0" y="0"/>
                </a:moveTo>
                <a:lnTo>
                  <a:pt x="3997864" y="0"/>
                </a:lnTo>
                <a:lnTo>
                  <a:pt x="3997864" y="3997863"/>
                </a:lnTo>
                <a:lnTo>
                  <a:pt x="0" y="3997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414907" y="1417680"/>
            <a:ext cx="4180412" cy="4472697"/>
            <a:chOff x="0" y="0"/>
            <a:chExt cx="5573883" cy="596359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573883" cy="5963596"/>
              <a:chOff x="0" y="0"/>
              <a:chExt cx="759685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5968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9685">
                    <a:moveTo>
                      <a:pt x="379842" y="0"/>
                    </a:moveTo>
                    <a:cubicBezTo>
                      <a:pt x="170061" y="0"/>
                      <a:pt x="0" y="181951"/>
                      <a:pt x="0" y="406400"/>
                    </a:cubicBezTo>
                    <a:cubicBezTo>
                      <a:pt x="0" y="630849"/>
                      <a:pt x="170061" y="812800"/>
                      <a:pt x="379842" y="812800"/>
                    </a:cubicBezTo>
                    <a:cubicBezTo>
                      <a:pt x="589623" y="812800"/>
                      <a:pt x="759685" y="630849"/>
                      <a:pt x="759685" y="406400"/>
                    </a:cubicBezTo>
                    <a:cubicBezTo>
                      <a:pt x="759685" y="181951"/>
                      <a:pt x="589623" y="0"/>
                      <a:pt x="379842" y="0"/>
                    </a:cubicBezTo>
                    <a:close/>
                  </a:path>
                </a:pathLst>
              </a:custGeom>
              <a:ln w="38100" cap="sq">
                <a:solidFill>
                  <a:srgbClr val="7E30E1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1220" y="28575"/>
                <a:ext cx="617244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1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2700000">
              <a:off x="1521963" y="1942931"/>
              <a:ext cx="2529958" cy="2529958"/>
            </a:xfrm>
            <a:custGeom>
              <a:avLst/>
              <a:gdLst/>
              <a:ahLst/>
              <a:cxnLst/>
              <a:rect r="r" b="b" t="t" l="l"/>
              <a:pathLst>
                <a:path h="2529958" w="2529958">
                  <a:moveTo>
                    <a:pt x="0" y="0"/>
                  </a:moveTo>
                  <a:lnTo>
                    <a:pt x="2529958" y="0"/>
                  </a:lnTo>
                  <a:lnTo>
                    <a:pt x="2529958" y="2529957"/>
                  </a:lnTo>
                  <a:lnTo>
                    <a:pt x="0" y="2529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075168" y="7676654"/>
            <a:ext cx="9192380" cy="63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89"/>
              </a:lnSpc>
            </a:pPr>
            <a:r>
              <a:rPr lang="en-US" b="true" sz="3778" spc="18">
                <a:solidFill>
                  <a:srgbClr val="3A1078"/>
                </a:solidFill>
                <a:latin typeface="DM Sans Bold"/>
                <a:ea typeface="DM Sans Bold"/>
                <a:cs typeface="DM Sans Bold"/>
                <a:sym typeface="DM Sans Bold"/>
              </a:rPr>
              <a:t> Software Development Approach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56762" y="8852373"/>
            <a:ext cx="302538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2077160"/>
            <a:ext cx="15426614" cy="0"/>
          </a:xfrm>
          <a:prstGeom prst="line">
            <a:avLst/>
          </a:prstGeom>
          <a:ln cap="flat" w="19050">
            <a:solidFill>
              <a:srgbClr val="7E30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695150" y="7215397"/>
            <a:ext cx="4085805" cy="4085805"/>
          </a:xfrm>
          <a:custGeom>
            <a:avLst/>
            <a:gdLst/>
            <a:ahLst/>
            <a:cxnLst/>
            <a:rect r="r" b="b" t="t" l="l"/>
            <a:pathLst>
              <a:path h="4085805" w="4085805">
                <a:moveTo>
                  <a:pt x="0" y="0"/>
                </a:moveTo>
                <a:lnTo>
                  <a:pt x="4085805" y="0"/>
                </a:lnTo>
                <a:lnTo>
                  <a:pt x="4085805" y="4085806"/>
                </a:lnTo>
                <a:lnTo>
                  <a:pt x="0" y="4085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8583540" cy="99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9"/>
              </a:lnSpc>
            </a:pPr>
            <a:r>
              <a:rPr lang="en-US" sz="607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GROUP MEMBERS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913572" y="2086685"/>
            <a:ext cx="2942272" cy="2942272"/>
          </a:xfrm>
          <a:custGeom>
            <a:avLst/>
            <a:gdLst/>
            <a:ahLst/>
            <a:cxnLst/>
            <a:rect r="r" b="b" t="t" l="l"/>
            <a:pathLst>
              <a:path h="2942272" w="2942272">
                <a:moveTo>
                  <a:pt x="0" y="0"/>
                </a:moveTo>
                <a:lnTo>
                  <a:pt x="2942272" y="0"/>
                </a:lnTo>
                <a:lnTo>
                  <a:pt x="2942272" y="2942273"/>
                </a:lnTo>
                <a:lnTo>
                  <a:pt x="0" y="2942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4232" y="1028700"/>
            <a:ext cx="874537" cy="874537"/>
          </a:xfrm>
          <a:custGeom>
            <a:avLst/>
            <a:gdLst/>
            <a:ahLst/>
            <a:cxnLst/>
            <a:rect r="r" b="b" t="t" l="l"/>
            <a:pathLst>
              <a:path h="874537" w="874537">
                <a:moveTo>
                  <a:pt x="0" y="0"/>
                </a:moveTo>
                <a:lnTo>
                  <a:pt x="874538" y="0"/>
                </a:lnTo>
                <a:lnTo>
                  <a:pt x="874538" y="874537"/>
                </a:lnTo>
                <a:lnTo>
                  <a:pt x="0" y="87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3670" y="2644981"/>
            <a:ext cx="9518123" cy="492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89"/>
              </a:lnSpc>
              <a:spcBef>
                <a:spcPct val="0"/>
              </a:spcBef>
            </a:pPr>
            <a:r>
              <a:rPr lang="en-US" sz="39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Hesara Liyanage - D/ICT /25 /0130</a:t>
            </a:r>
          </a:p>
          <a:p>
            <a:pPr algn="just">
              <a:lnSpc>
                <a:spcPts val="5589"/>
              </a:lnSpc>
              <a:spcBef>
                <a:spcPct val="0"/>
              </a:spcBef>
            </a:pPr>
            <a:r>
              <a:rPr lang="en-US" sz="39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Yuwani Anuththara - D/ICT /25 /0121</a:t>
            </a:r>
          </a:p>
          <a:p>
            <a:pPr algn="just">
              <a:lnSpc>
                <a:spcPts val="5589"/>
              </a:lnSpc>
              <a:spcBef>
                <a:spcPct val="0"/>
              </a:spcBef>
            </a:pPr>
            <a:r>
              <a:rPr lang="en-US" sz="39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Umesha Jayalath - D/ICT /25 /0129</a:t>
            </a:r>
          </a:p>
          <a:p>
            <a:pPr algn="just">
              <a:lnSpc>
                <a:spcPts val="5589"/>
              </a:lnSpc>
              <a:spcBef>
                <a:spcPct val="0"/>
              </a:spcBef>
            </a:pPr>
            <a:r>
              <a:rPr lang="en-US" sz="39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Sanduni Nayanathara - D/ICT /25 /0122</a:t>
            </a:r>
          </a:p>
          <a:p>
            <a:pPr algn="just">
              <a:lnSpc>
                <a:spcPts val="5589"/>
              </a:lnSpc>
              <a:spcBef>
                <a:spcPct val="0"/>
              </a:spcBef>
            </a:pPr>
            <a:r>
              <a:rPr lang="en-US" sz="39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Yasath Amasara - D/ICT /25 /0073</a:t>
            </a:r>
          </a:p>
          <a:p>
            <a:pPr algn="just">
              <a:lnSpc>
                <a:spcPts val="5589"/>
              </a:lnSpc>
              <a:spcBef>
                <a:spcPct val="0"/>
              </a:spcBef>
            </a:pPr>
            <a:r>
              <a:rPr lang="en-US" sz="39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Bimsara Amarathunga - D/ICT /25 /0047</a:t>
            </a:r>
          </a:p>
          <a:p>
            <a:pPr algn="just">
              <a:lnSpc>
                <a:spcPts val="5589"/>
              </a:lnSpc>
              <a:spcBef>
                <a:spcPct val="0"/>
              </a:spcBef>
            </a:pPr>
            <a:r>
              <a:rPr lang="en-US" sz="39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Sanduni Lakshani - D/ICT /25 /0002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94458" y="2658233"/>
            <a:ext cx="4764842" cy="6002950"/>
          </a:xfrm>
          <a:custGeom>
            <a:avLst/>
            <a:gdLst/>
            <a:ahLst/>
            <a:cxnLst/>
            <a:rect r="r" b="b" t="t" l="l"/>
            <a:pathLst>
              <a:path h="6002950" w="4764842">
                <a:moveTo>
                  <a:pt x="0" y="0"/>
                </a:moveTo>
                <a:lnTo>
                  <a:pt x="4764842" y="0"/>
                </a:lnTo>
                <a:lnTo>
                  <a:pt x="4764842" y="6002950"/>
                </a:lnTo>
                <a:lnTo>
                  <a:pt x="0" y="6002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17293" y="8852373"/>
            <a:ext cx="381476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8096" y="2403032"/>
            <a:ext cx="4908439" cy="4908439"/>
          </a:xfrm>
          <a:custGeom>
            <a:avLst/>
            <a:gdLst/>
            <a:ahLst/>
            <a:cxnLst/>
            <a:rect r="r" b="b" t="t" l="l"/>
            <a:pathLst>
              <a:path h="4908439" w="4908439">
                <a:moveTo>
                  <a:pt x="0" y="0"/>
                </a:moveTo>
                <a:lnTo>
                  <a:pt x="4908438" y="0"/>
                </a:lnTo>
                <a:lnTo>
                  <a:pt x="4908438" y="4908439"/>
                </a:lnTo>
                <a:lnTo>
                  <a:pt x="0" y="4908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63898" y="-831180"/>
            <a:ext cx="3755992" cy="3693764"/>
            <a:chOff x="0" y="0"/>
            <a:chExt cx="8264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6493" cy="812800"/>
            </a:xfrm>
            <a:custGeom>
              <a:avLst/>
              <a:gdLst/>
              <a:ahLst/>
              <a:cxnLst/>
              <a:rect r="r" b="b" t="t" l="l"/>
              <a:pathLst>
                <a:path h="812800" w="826493">
                  <a:moveTo>
                    <a:pt x="413247" y="0"/>
                  </a:moveTo>
                  <a:cubicBezTo>
                    <a:pt x="185017" y="0"/>
                    <a:pt x="0" y="181951"/>
                    <a:pt x="0" y="406400"/>
                  </a:cubicBezTo>
                  <a:cubicBezTo>
                    <a:pt x="0" y="630849"/>
                    <a:pt x="185017" y="812800"/>
                    <a:pt x="413247" y="812800"/>
                  </a:cubicBezTo>
                  <a:cubicBezTo>
                    <a:pt x="641476" y="812800"/>
                    <a:pt x="826493" y="630849"/>
                    <a:pt x="826493" y="406400"/>
                  </a:cubicBezTo>
                  <a:cubicBezTo>
                    <a:pt x="826493" y="181951"/>
                    <a:pt x="641476" y="0"/>
                    <a:pt x="413247" y="0"/>
                  </a:cubicBezTo>
                  <a:close/>
                </a:path>
              </a:pathLst>
            </a:custGeom>
            <a:ln w="38100" cap="sq">
              <a:solidFill>
                <a:srgbClr val="7E30E1">
                  <a:alpha val="63922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7484" y="28575"/>
              <a:ext cx="67152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22382" y="7511815"/>
            <a:ext cx="4344153" cy="4272180"/>
            <a:chOff x="0" y="0"/>
            <a:chExt cx="82649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6493" cy="812800"/>
            </a:xfrm>
            <a:custGeom>
              <a:avLst/>
              <a:gdLst/>
              <a:ahLst/>
              <a:cxnLst/>
              <a:rect r="r" b="b" t="t" l="l"/>
              <a:pathLst>
                <a:path h="812800" w="826493">
                  <a:moveTo>
                    <a:pt x="413247" y="0"/>
                  </a:moveTo>
                  <a:cubicBezTo>
                    <a:pt x="185017" y="0"/>
                    <a:pt x="0" y="181951"/>
                    <a:pt x="0" y="406400"/>
                  </a:cubicBezTo>
                  <a:cubicBezTo>
                    <a:pt x="0" y="630849"/>
                    <a:pt x="185017" y="812800"/>
                    <a:pt x="413247" y="812800"/>
                  </a:cubicBezTo>
                  <a:cubicBezTo>
                    <a:pt x="641476" y="812800"/>
                    <a:pt x="826493" y="630849"/>
                    <a:pt x="826493" y="406400"/>
                  </a:cubicBezTo>
                  <a:cubicBezTo>
                    <a:pt x="826493" y="181951"/>
                    <a:pt x="641476" y="0"/>
                    <a:pt x="413247" y="0"/>
                  </a:cubicBezTo>
                  <a:close/>
                </a:path>
              </a:pathLst>
            </a:custGeom>
            <a:ln w="38100" cap="sq">
              <a:solidFill>
                <a:srgbClr val="7E30E1">
                  <a:alpha val="6392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7484" y="28575"/>
              <a:ext cx="67152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657310" y="2403032"/>
            <a:ext cx="6536224" cy="4789905"/>
          </a:xfrm>
          <a:custGeom>
            <a:avLst/>
            <a:gdLst/>
            <a:ahLst/>
            <a:cxnLst/>
            <a:rect r="r" b="b" t="t" l="l"/>
            <a:pathLst>
              <a:path h="4789905" w="6536224">
                <a:moveTo>
                  <a:pt x="0" y="0"/>
                </a:moveTo>
                <a:lnTo>
                  <a:pt x="6536224" y="0"/>
                </a:lnTo>
                <a:lnTo>
                  <a:pt x="6536224" y="4789905"/>
                </a:lnTo>
                <a:lnTo>
                  <a:pt x="0" y="478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7609" y="939502"/>
            <a:ext cx="5897047" cy="99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9"/>
              </a:lnSpc>
            </a:pPr>
            <a:r>
              <a:rPr lang="en-US" sz="607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WHAT IS AGILE?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0884" y="2595026"/>
            <a:ext cx="11448984" cy="674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  <a:spcBef>
                <a:spcPct val="0"/>
              </a:spcBef>
            </a:pPr>
            <a:r>
              <a:rPr lang="en-US" sz="38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Agile is a flexible software development approach.</a:t>
            </a:r>
          </a:p>
          <a:p>
            <a:pPr algn="l">
              <a:lnSpc>
                <a:spcPts val="5328"/>
              </a:lnSpc>
              <a:spcBef>
                <a:spcPct val="0"/>
              </a:spcBef>
            </a:pPr>
          </a:p>
          <a:p>
            <a:pPr algn="l">
              <a:lnSpc>
                <a:spcPts val="5328"/>
              </a:lnSpc>
              <a:spcBef>
                <a:spcPct val="0"/>
              </a:spcBef>
            </a:pPr>
            <a:r>
              <a:rPr lang="en-US" sz="38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Focuses on :</a:t>
            </a:r>
          </a:p>
          <a:p>
            <a:pPr algn="l" marL="821661" indent="-410830" lvl="1">
              <a:lnSpc>
                <a:spcPts val="5328"/>
              </a:lnSpc>
              <a:buFont typeface="Arial"/>
              <a:buChar char="•"/>
            </a:pPr>
            <a:r>
              <a:rPr lang="en-US" sz="38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Flexibility</a:t>
            </a:r>
          </a:p>
          <a:p>
            <a:pPr algn="l" marL="821661" indent="-410830" lvl="1">
              <a:lnSpc>
                <a:spcPts val="5328"/>
              </a:lnSpc>
              <a:buFont typeface="Arial"/>
              <a:buChar char="•"/>
            </a:pPr>
            <a:r>
              <a:rPr lang="en-US" sz="38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Collaboration</a:t>
            </a:r>
          </a:p>
          <a:p>
            <a:pPr algn="l" marL="821661" indent="-410830" lvl="1">
              <a:lnSpc>
                <a:spcPts val="5328"/>
              </a:lnSpc>
              <a:buFont typeface="Arial"/>
              <a:buChar char="•"/>
            </a:pPr>
            <a:r>
              <a:rPr lang="en-US" sz="38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feedback</a:t>
            </a:r>
          </a:p>
          <a:p>
            <a:pPr algn="l">
              <a:lnSpc>
                <a:spcPts val="5328"/>
              </a:lnSpc>
            </a:pPr>
          </a:p>
          <a:p>
            <a:pPr algn="l">
              <a:lnSpc>
                <a:spcPts val="5328"/>
              </a:lnSpc>
            </a:pPr>
            <a:r>
              <a:rPr lang="en-US" sz="38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 is done in small, iterative cycles (sprints).</a:t>
            </a:r>
          </a:p>
          <a:p>
            <a:pPr algn="l">
              <a:lnSpc>
                <a:spcPts val="5328"/>
              </a:lnSpc>
            </a:pPr>
            <a:r>
              <a:rPr lang="en-US" sz="38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Continuous delivery of working software.</a:t>
            </a:r>
          </a:p>
          <a:p>
            <a:pPr algn="l">
              <a:lnSpc>
                <a:spcPts val="532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913304" y="8852373"/>
            <a:ext cx="389453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72466" y="9581230"/>
            <a:ext cx="6685630" cy="562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  <a:spcBef>
                <a:spcPct val="0"/>
              </a:spcBef>
            </a:pPr>
            <a:r>
              <a:rPr lang="en-US" sz="33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Hesara Liyanage - D/ICT /25 /0130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8711" y="7332033"/>
            <a:ext cx="5298579" cy="5298579"/>
          </a:xfrm>
          <a:custGeom>
            <a:avLst/>
            <a:gdLst/>
            <a:ahLst/>
            <a:cxnLst/>
            <a:rect r="r" b="b" t="t" l="l"/>
            <a:pathLst>
              <a:path h="5298579" w="5298579">
                <a:moveTo>
                  <a:pt x="0" y="0"/>
                </a:moveTo>
                <a:lnTo>
                  <a:pt x="5298578" y="0"/>
                </a:lnTo>
                <a:lnTo>
                  <a:pt x="5298578" y="5298579"/>
                </a:lnTo>
                <a:lnTo>
                  <a:pt x="0" y="529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18729" y="1230087"/>
            <a:ext cx="803182" cy="803182"/>
          </a:xfrm>
          <a:custGeom>
            <a:avLst/>
            <a:gdLst/>
            <a:ahLst/>
            <a:cxnLst/>
            <a:rect r="r" b="b" t="t" l="l"/>
            <a:pathLst>
              <a:path h="803182" w="803182">
                <a:moveTo>
                  <a:pt x="0" y="0"/>
                </a:moveTo>
                <a:lnTo>
                  <a:pt x="803181" y="0"/>
                </a:lnTo>
                <a:lnTo>
                  <a:pt x="803181" y="803181"/>
                </a:lnTo>
                <a:lnTo>
                  <a:pt x="0" y="803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58598" y="2226661"/>
            <a:ext cx="9834459" cy="7031639"/>
          </a:xfrm>
          <a:custGeom>
            <a:avLst/>
            <a:gdLst/>
            <a:ahLst/>
            <a:cxnLst/>
            <a:rect r="r" b="b" t="t" l="l"/>
            <a:pathLst>
              <a:path h="7031639" w="9834459">
                <a:moveTo>
                  <a:pt x="0" y="0"/>
                </a:moveTo>
                <a:lnTo>
                  <a:pt x="9834459" y="0"/>
                </a:lnTo>
                <a:lnTo>
                  <a:pt x="9834459" y="7031639"/>
                </a:lnTo>
                <a:lnTo>
                  <a:pt x="0" y="7031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32606"/>
            <a:ext cx="12393523" cy="116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2"/>
              </a:lnSpc>
              <a:spcBef>
                <a:spcPct val="0"/>
              </a:spcBef>
            </a:pPr>
            <a:r>
              <a:rPr lang="en-US" b="true" sz="608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AGILE MANIFESTO &amp; PRINCIPLES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10745" y="8852373"/>
            <a:ext cx="394573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340639"/>
            <a:ext cx="8158598" cy="820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39969" indent="-419985" lvl="1">
              <a:lnSpc>
                <a:spcPts val="5446"/>
              </a:lnSpc>
              <a:buFont typeface="Arial"/>
              <a:buChar char="•"/>
            </a:pPr>
            <a:r>
              <a:rPr lang="en-US" sz="3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3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dividuals &amp; interactions over processes &amp; tools</a:t>
            </a:r>
          </a:p>
          <a:p>
            <a:pPr algn="ctr">
              <a:lnSpc>
                <a:spcPts val="5446"/>
              </a:lnSpc>
            </a:pPr>
          </a:p>
          <a:p>
            <a:pPr algn="ctr" marL="839969" indent="-419985" lvl="1">
              <a:lnSpc>
                <a:spcPts val="5446"/>
              </a:lnSpc>
              <a:buFont typeface="Arial"/>
              <a:buChar char="•"/>
            </a:pPr>
            <a:r>
              <a:rPr lang="en-US" sz="3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Working software over comprehensive documentation</a:t>
            </a:r>
          </a:p>
          <a:p>
            <a:pPr algn="ctr">
              <a:lnSpc>
                <a:spcPts val="5446"/>
              </a:lnSpc>
            </a:pPr>
          </a:p>
          <a:p>
            <a:pPr algn="ctr" marL="839969" indent="-419985" lvl="1">
              <a:lnSpc>
                <a:spcPts val="5446"/>
              </a:lnSpc>
              <a:buFont typeface="Arial"/>
              <a:buChar char="•"/>
            </a:pPr>
            <a:r>
              <a:rPr lang="en-US" sz="3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collaboration over contract negotiation</a:t>
            </a:r>
          </a:p>
          <a:p>
            <a:pPr algn="ctr">
              <a:lnSpc>
                <a:spcPts val="5446"/>
              </a:lnSpc>
            </a:pPr>
          </a:p>
          <a:p>
            <a:pPr algn="ctr" marL="839969" indent="-419985" lvl="1">
              <a:lnSpc>
                <a:spcPts val="5446"/>
              </a:lnSpc>
              <a:buFont typeface="Arial"/>
              <a:buChar char="•"/>
            </a:pPr>
            <a:r>
              <a:rPr lang="en-US" sz="3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Responding to change over following a plan</a:t>
            </a:r>
          </a:p>
          <a:p>
            <a:pPr algn="ctr">
              <a:lnSpc>
                <a:spcPts val="544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333970" y="9417442"/>
            <a:ext cx="697134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Yuwani Anuththara - D/ICT /25 /0121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64359" y="5387431"/>
            <a:ext cx="9799138" cy="9799138"/>
          </a:xfrm>
          <a:custGeom>
            <a:avLst/>
            <a:gdLst/>
            <a:ahLst/>
            <a:cxnLst/>
            <a:rect r="r" b="b" t="t" l="l"/>
            <a:pathLst>
              <a:path h="9799138" w="9799138">
                <a:moveTo>
                  <a:pt x="0" y="0"/>
                </a:moveTo>
                <a:lnTo>
                  <a:pt x="9799138" y="0"/>
                </a:lnTo>
                <a:lnTo>
                  <a:pt x="9799138" y="9799138"/>
                </a:lnTo>
                <a:lnTo>
                  <a:pt x="0" y="9799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25316" y="2787817"/>
            <a:ext cx="3454016" cy="3454016"/>
          </a:xfrm>
          <a:custGeom>
            <a:avLst/>
            <a:gdLst/>
            <a:ahLst/>
            <a:cxnLst/>
            <a:rect r="r" b="b" t="t" l="l"/>
            <a:pathLst>
              <a:path h="3454016" w="3454016">
                <a:moveTo>
                  <a:pt x="0" y="0"/>
                </a:moveTo>
                <a:lnTo>
                  <a:pt x="3454016" y="0"/>
                </a:lnTo>
                <a:lnTo>
                  <a:pt x="3454016" y="3454016"/>
                </a:lnTo>
                <a:lnTo>
                  <a:pt x="0" y="345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47290" y="2117281"/>
          <a:ext cx="11289322" cy="7680660"/>
        </p:xfrm>
        <a:graphic>
          <a:graphicData uri="http://schemas.openxmlformats.org/drawingml/2006/table">
            <a:tbl>
              <a:tblPr/>
              <a:tblGrid>
                <a:gridCol w="5644661"/>
                <a:gridCol w="5644661"/>
              </a:tblGrid>
              <a:tr h="1536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2436612" y="0"/>
            <a:ext cx="5851388" cy="2716138"/>
          </a:xfrm>
          <a:custGeom>
            <a:avLst/>
            <a:gdLst/>
            <a:ahLst/>
            <a:cxnLst/>
            <a:rect r="r" b="b" t="t" l="l"/>
            <a:pathLst>
              <a:path h="2716138" w="5851388">
                <a:moveTo>
                  <a:pt x="0" y="0"/>
                </a:moveTo>
                <a:lnTo>
                  <a:pt x="5851388" y="0"/>
                </a:lnTo>
                <a:lnTo>
                  <a:pt x="5851388" y="2716138"/>
                </a:lnTo>
                <a:lnTo>
                  <a:pt x="0" y="2716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99" t="-27455" r="-6541" b="-2343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09673" y="8852373"/>
            <a:ext cx="396716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7290" y="721270"/>
            <a:ext cx="6559391" cy="104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2"/>
              </a:lnSpc>
              <a:spcBef>
                <a:spcPct val="0"/>
              </a:spcBef>
            </a:pPr>
            <a:r>
              <a:rPr lang="en-US" b="true" sz="60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Agile VS Waterfall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2765" y="2421867"/>
            <a:ext cx="1158478" cy="65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  <a:spcBef>
                <a:spcPct val="0"/>
              </a:spcBef>
            </a:pPr>
            <a:r>
              <a:rPr lang="en-US" b="true" sz="380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Agile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5586" y="9053613"/>
            <a:ext cx="56703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Continuous feedback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01176" y="2431138"/>
            <a:ext cx="2103596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Waterfall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0135" y="9017993"/>
            <a:ext cx="630786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Testing at the 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5586" y="4199548"/>
            <a:ext cx="341114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Flexible</a:t>
            </a: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approach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5586" y="5677953"/>
            <a:ext cx="400240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ork in small sprints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5586" y="7365783"/>
            <a:ext cx="493287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anges allowed anytime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40135" y="4199548"/>
            <a:ext cx="54256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Fixed</a:t>
            </a: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step-by-step process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0135" y="5604233"/>
            <a:ext cx="384786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Linea</a:t>
            </a: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 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40135" y="7311113"/>
            <a:ext cx="398692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anges are difficult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36612" y="9192151"/>
            <a:ext cx="531616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Umesha Jayalath - D/ICT /25 /0129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06470" y="1905386"/>
            <a:ext cx="4105176" cy="4105176"/>
          </a:xfrm>
          <a:custGeom>
            <a:avLst/>
            <a:gdLst/>
            <a:ahLst/>
            <a:cxnLst/>
            <a:rect r="r" b="b" t="t" l="l"/>
            <a:pathLst>
              <a:path h="4105176" w="4105176">
                <a:moveTo>
                  <a:pt x="0" y="0"/>
                </a:moveTo>
                <a:lnTo>
                  <a:pt x="4105175" y="0"/>
                </a:lnTo>
                <a:lnTo>
                  <a:pt x="4105175" y="4105176"/>
                </a:lnTo>
                <a:lnTo>
                  <a:pt x="0" y="410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68836" y="6612963"/>
            <a:ext cx="5290673" cy="5290673"/>
          </a:xfrm>
          <a:custGeom>
            <a:avLst/>
            <a:gdLst/>
            <a:ahLst/>
            <a:cxnLst/>
            <a:rect r="r" b="b" t="t" l="l"/>
            <a:pathLst>
              <a:path h="5290673" w="5290673">
                <a:moveTo>
                  <a:pt x="0" y="0"/>
                </a:moveTo>
                <a:lnTo>
                  <a:pt x="5290673" y="0"/>
                </a:lnTo>
                <a:lnTo>
                  <a:pt x="5290673" y="5290674"/>
                </a:lnTo>
                <a:lnTo>
                  <a:pt x="0" y="529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2430559" y="5486400"/>
            <a:ext cx="8771913" cy="0"/>
          </a:xfrm>
          <a:prstGeom prst="line">
            <a:avLst/>
          </a:prstGeom>
          <a:ln cap="flat" w="19050">
            <a:solidFill>
              <a:srgbClr val="8181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085394" y="9026091"/>
            <a:ext cx="8771913" cy="0"/>
          </a:xfrm>
          <a:prstGeom prst="line">
            <a:avLst/>
          </a:prstGeom>
          <a:ln cap="flat" w="19050">
            <a:solidFill>
              <a:srgbClr val="8181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572779" y="4351655"/>
            <a:ext cx="5736349" cy="4051296"/>
          </a:xfrm>
          <a:custGeom>
            <a:avLst/>
            <a:gdLst/>
            <a:ahLst/>
            <a:cxnLst/>
            <a:rect r="r" b="b" t="t" l="l"/>
            <a:pathLst>
              <a:path h="4051296" w="5736349">
                <a:moveTo>
                  <a:pt x="0" y="0"/>
                </a:moveTo>
                <a:lnTo>
                  <a:pt x="5736349" y="0"/>
                </a:lnTo>
                <a:lnTo>
                  <a:pt x="5736349" y="4051296"/>
                </a:lnTo>
                <a:lnTo>
                  <a:pt x="0" y="4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06935" y="8852373"/>
            <a:ext cx="402193" cy="82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</a:p>
          <a:p>
            <a:pPr algn="ctr">
              <a:lnSpc>
                <a:spcPts val="335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86851" y="1181804"/>
            <a:ext cx="6039842" cy="116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2"/>
              </a:lnSpc>
              <a:spcBef>
                <a:spcPct val="0"/>
              </a:spcBef>
            </a:pPr>
            <a:r>
              <a:rPr lang="en-US" b="true" sz="608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Agile Frameworks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049" y="4256405"/>
            <a:ext cx="68289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5199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popular frameworks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83363" y="5573949"/>
            <a:ext cx="671878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Scrum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Kanb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Extreme Programming (XP)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Lean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Crystal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Dynamic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886851" y="2594218"/>
            <a:ext cx="14239163" cy="196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16"/>
              </a:lnSpc>
              <a:spcBef>
                <a:spcPct val="0"/>
              </a:spcBef>
            </a:pP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gile frameworks are ways to manage an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complete work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tep 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step, wit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fl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xibility 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726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teamwork.</a:t>
            </a:r>
          </a:p>
          <a:p>
            <a:pPr algn="ctr" marL="0" indent="0" lvl="0">
              <a:lnSpc>
                <a:spcPts val="521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802142" y="9362123"/>
            <a:ext cx="754677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Sanduni Nayanathara - D/ICT /25 /0122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51313" y="6973326"/>
            <a:ext cx="4569948" cy="4569948"/>
          </a:xfrm>
          <a:custGeom>
            <a:avLst/>
            <a:gdLst/>
            <a:ahLst/>
            <a:cxnLst/>
            <a:rect r="r" b="b" t="t" l="l"/>
            <a:pathLst>
              <a:path h="4569948" w="4569948">
                <a:moveTo>
                  <a:pt x="0" y="0"/>
                </a:moveTo>
                <a:lnTo>
                  <a:pt x="4569948" y="0"/>
                </a:lnTo>
                <a:lnTo>
                  <a:pt x="4569948" y="4569948"/>
                </a:lnTo>
                <a:lnTo>
                  <a:pt x="0" y="456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851313" y="1028700"/>
            <a:ext cx="1693408" cy="1693408"/>
          </a:xfrm>
          <a:custGeom>
            <a:avLst/>
            <a:gdLst/>
            <a:ahLst/>
            <a:cxnLst/>
            <a:rect r="r" b="b" t="t" l="l"/>
            <a:pathLst>
              <a:path h="1693408" w="1693408">
                <a:moveTo>
                  <a:pt x="0" y="0"/>
                </a:moveTo>
                <a:lnTo>
                  <a:pt x="1693408" y="0"/>
                </a:lnTo>
                <a:lnTo>
                  <a:pt x="1693408" y="1693408"/>
                </a:lnTo>
                <a:lnTo>
                  <a:pt x="0" y="169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04360" y="-3718320"/>
            <a:ext cx="9494040" cy="9494040"/>
          </a:xfrm>
          <a:custGeom>
            <a:avLst/>
            <a:gdLst/>
            <a:ahLst/>
            <a:cxnLst/>
            <a:rect r="r" b="b" t="t" l="l"/>
            <a:pathLst>
              <a:path h="9494040" w="9494040">
                <a:moveTo>
                  <a:pt x="0" y="0"/>
                </a:moveTo>
                <a:lnTo>
                  <a:pt x="9494040" y="0"/>
                </a:lnTo>
                <a:lnTo>
                  <a:pt x="9494040" y="9494040"/>
                </a:lnTo>
                <a:lnTo>
                  <a:pt x="0" y="949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23782" y="8852373"/>
            <a:ext cx="368498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227433"/>
            <a:ext cx="6014998" cy="3874686"/>
            <a:chOff x="0" y="0"/>
            <a:chExt cx="8019997" cy="516624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69250"/>
              <a:ext cx="7627238" cy="459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353"/>
                </a:lnSpc>
                <a:spcBef>
                  <a:spcPct val="0"/>
                </a:spcBef>
              </a:pPr>
              <a:r>
                <a:rPr lang="en-US" sz="668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Adv</a:t>
              </a:r>
              <a:r>
                <a:rPr lang="en-US" sz="668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antages </a:t>
              </a:r>
            </a:p>
            <a:p>
              <a:pPr algn="ctr">
                <a:lnSpc>
                  <a:spcPts val="9353"/>
                </a:lnSpc>
                <a:spcBef>
                  <a:spcPct val="0"/>
                </a:spcBef>
              </a:pPr>
              <a:r>
                <a:rPr lang="en-US" sz="668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Disadvantages</a:t>
              </a:r>
            </a:p>
            <a:p>
              <a:pPr algn="ctr">
                <a:lnSpc>
                  <a:spcPts val="9353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398382" y="-257175"/>
              <a:ext cx="1621615" cy="291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14"/>
                </a:lnSpc>
                <a:spcBef>
                  <a:spcPct val="0"/>
                </a:spcBef>
              </a:pPr>
              <a:r>
                <a:rPr lang="en-US" sz="13081">
                  <a:solidFill>
                    <a:srgbClr val="7E30E1"/>
                  </a:solidFill>
                  <a:latin typeface="DM Sans"/>
                  <a:ea typeface="DM Sans"/>
                  <a:cs typeface="DM Sans"/>
                  <a:sym typeface="DM Sans"/>
                </a:rPr>
                <a:t>&amp;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51350" y="4323755"/>
            <a:ext cx="5637014" cy="418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0"/>
              </a:lnSpc>
              <a:spcBef>
                <a:spcPct val="0"/>
              </a:spcBef>
            </a:pPr>
            <a:r>
              <a:rPr lang="en-US" sz="54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Adv</a:t>
            </a:r>
            <a:r>
              <a:rPr lang="en-US" sz="54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antages</a:t>
            </a:r>
          </a:p>
          <a:p>
            <a:pPr algn="ctr">
              <a:lnSpc>
                <a:spcPts val="3351"/>
              </a:lnSpc>
              <a:spcBef>
                <a:spcPct val="0"/>
              </a:spcBef>
            </a:pPr>
          </a:p>
          <a:p>
            <a:pPr algn="ctr">
              <a:lnSpc>
                <a:spcPts val="4471"/>
              </a:lnSpc>
              <a:spcBef>
                <a:spcPct val="0"/>
              </a:spcBef>
            </a:pPr>
            <a:r>
              <a:rPr lang="en-US" b="true" sz="31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Faster delivery</a:t>
            </a:r>
          </a:p>
          <a:p>
            <a:pPr algn="ctr">
              <a:lnSpc>
                <a:spcPts val="4471"/>
              </a:lnSpc>
              <a:spcBef>
                <a:spcPct val="0"/>
              </a:spcBef>
            </a:pPr>
          </a:p>
          <a:p>
            <a:pPr algn="ctr">
              <a:lnSpc>
                <a:spcPts val="4471"/>
              </a:lnSpc>
              <a:spcBef>
                <a:spcPct val="0"/>
              </a:spcBef>
            </a:pPr>
            <a:r>
              <a:rPr lang="en-US" b="true" sz="31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Better customer satisfaction</a:t>
            </a:r>
          </a:p>
          <a:p>
            <a:pPr algn="ctr">
              <a:lnSpc>
                <a:spcPts val="4471"/>
              </a:lnSpc>
              <a:spcBef>
                <a:spcPct val="0"/>
              </a:spcBef>
            </a:pPr>
          </a:p>
          <a:p>
            <a:pPr algn="ctr">
              <a:lnSpc>
                <a:spcPts val="4471"/>
              </a:lnSpc>
              <a:spcBef>
                <a:spcPct val="0"/>
              </a:spcBef>
            </a:pPr>
            <a:r>
              <a:rPr lang="en-US" b="true" sz="31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Flexibility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3400" y="4304705"/>
            <a:ext cx="5401033" cy="440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10"/>
              </a:lnSpc>
              <a:spcBef>
                <a:spcPct val="0"/>
              </a:spcBef>
            </a:pPr>
            <a:r>
              <a:rPr lang="en-US" sz="579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Disadvantages</a:t>
            </a:r>
          </a:p>
          <a:p>
            <a:pPr algn="ctr" marL="0" indent="0" lvl="0">
              <a:lnSpc>
                <a:spcPts val="4471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471"/>
              </a:lnSpc>
              <a:spcBef>
                <a:spcPct val="0"/>
              </a:spcBef>
            </a:pPr>
            <a:r>
              <a:rPr lang="en-US" b="true" sz="3193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Requires experienced team</a:t>
            </a:r>
          </a:p>
          <a:p>
            <a:pPr algn="ctr" marL="0" indent="0" lvl="0">
              <a:lnSpc>
                <a:spcPts val="4471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471"/>
              </a:lnSpc>
              <a:spcBef>
                <a:spcPct val="0"/>
              </a:spcBef>
            </a:pPr>
            <a:r>
              <a:rPr lang="en-US" b="true" sz="3193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Hard to predict cost/time</a:t>
            </a:r>
          </a:p>
          <a:p>
            <a:pPr algn="ctr" marL="0" indent="0" lvl="0">
              <a:lnSpc>
                <a:spcPts val="4471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471"/>
              </a:lnSpc>
              <a:spcBef>
                <a:spcPct val="0"/>
              </a:spcBef>
            </a:pPr>
            <a:r>
              <a:rPr lang="en-US" b="true" sz="3193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Less documentation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450144" y="4419005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934632" y="488672"/>
            <a:ext cx="2233436" cy="2233436"/>
          </a:xfrm>
          <a:custGeom>
            <a:avLst/>
            <a:gdLst/>
            <a:ahLst/>
            <a:cxnLst/>
            <a:rect r="r" b="b" t="t" l="l"/>
            <a:pathLst>
              <a:path h="2233436" w="2233436">
                <a:moveTo>
                  <a:pt x="0" y="0"/>
                </a:moveTo>
                <a:lnTo>
                  <a:pt x="2233436" y="0"/>
                </a:lnTo>
                <a:lnTo>
                  <a:pt x="2233436" y="2233436"/>
                </a:lnTo>
                <a:lnTo>
                  <a:pt x="0" y="22334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32911" y="9505950"/>
            <a:ext cx="667512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Yasath Amasara - D/ICT /25 /0073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51134" y="-2670157"/>
            <a:ext cx="7467112" cy="7467112"/>
          </a:xfrm>
          <a:custGeom>
            <a:avLst/>
            <a:gdLst/>
            <a:ahLst/>
            <a:cxnLst/>
            <a:rect r="r" b="b" t="t" l="l"/>
            <a:pathLst>
              <a:path h="7467112" w="7467112">
                <a:moveTo>
                  <a:pt x="0" y="0"/>
                </a:moveTo>
                <a:lnTo>
                  <a:pt x="7467112" y="0"/>
                </a:lnTo>
                <a:lnTo>
                  <a:pt x="7467112" y="7467111"/>
                </a:lnTo>
                <a:lnTo>
                  <a:pt x="0" y="7467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58096" y="7534728"/>
            <a:ext cx="5061266" cy="5061266"/>
          </a:xfrm>
          <a:custGeom>
            <a:avLst/>
            <a:gdLst/>
            <a:ahLst/>
            <a:cxnLst/>
            <a:rect r="r" b="b" t="t" l="l"/>
            <a:pathLst>
              <a:path h="5061266" w="5061266">
                <a:moveTo>
                  <a:pt x="0" y="0"/>
                </a:moveTo>
                <a:lnTo>
                  <a:pt x="5061266" y="0"/>
                </a:lnTo>
                <a:lnTo>
                  <a:pt x="5061266" y="5061266"/>
                </a:lnTo>
                <a:lnTo>
                  <a:pt x="0" y="5061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15978" y="2848179"/>
            <a:ext cx="10207572" cy="390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</a:pPr>
            <a:r>
              <a:rPr lang="en-US" sz="318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Spotify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b="true" sz="31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     </a:t>
            </a:r>
            <a:r>
              <a:rPr lang="en-US" b="true" sz="318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 </a:t>
            </a:r>
            <a:r>
              <a:rPr lang="en-US" sz="31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Spotify uses Agile to develop its app.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• Teams work in small groups (Squads)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They release new updates quickly.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          • They improve the app using user feedback.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Result: Faster development and better user experience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83386" y="6904500"/>
            <a:ext cx="5933765" cy="3028693"/>
          </a:xfrm>
          <a:custGeom>
            <a:avLst/>
            <a:gdLst/>
            <a:ahLst/>
            <a:cxnLst/>
            <a:rect r="r" b="b" t="t" l="l"/>
            <a:pathLst>
              <a:path h="3028693" w="5933765">
                <a:moveTo>
                  <a:pt x="0" y="0"/>
                </a:moveTo>
                <a:lnTo>
                  <a:pt x="5933765" y="0"/>
                </a:lnTo>
                <a:lnTo>
                  <a:pt x="5933765" y="3028692"/>
                </a:lnTo>
                <a:lnTo>
                  <a:pt x="0" y="3028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09971" y="8852373"/>
            <a:ext cx="396121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18207" y="416844"/>
            <a:ext cx="1308787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World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41241" y="9501481"/>
            <a:ext cx="786776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Bimsara Amarathunga - D/ICT /25 /0047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0878" y="4637852"/>
            <a:ext cx="3046102" cy="3046102"/>
          </a:xfrm>
          <a:custGeom>
            <a:avLst/>
            <a:gdLst/>
            <a:ahLst/>
            <a:cxnLst/>
            <a:rect r="r" b="b" t="t" l="l"/>
            <a:pathLst>
              <a:path h="3046102" w="3046102">
                <a:moveTo>
                  <a:pt x="0" y="0"/>
                </a:moveTo>
                <a:lnTo>
                  <a:pt x="3046102" y="0"/>
                </a:lnTo>
                <a:lnTo>
                  <a:pt x="3046102" y="3046102"/>
                </a:lnTo>
                <a:lnTo>
                  <a:pt x="0" y="304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86277">
            <a:off x="15928214" y="6363883"/>
            <a:ext cx="1698674" cy="1698674"/>
          </a:xfrm>
          <a:custGeom>
            <a:avLst/>
            <a:gdLst/>
            <a:ahLst/>
            <a:cxnLst/>
            <a:rect r="r" b="b" t="t" l="l"/>
            <a:pathLst>
              <a:path h="1698674" w="1698674">
                <a:moveTo>
                  <a:pt x="0" y="0"/>
                </a:moveTo>
                <a:lnTo>
                  <a:pt x="1698675" y="0"/>
                </a:lnTo>
                <a:lnTo>
                  <a:pt x="1698675" y="1698675"/>
                </a:lnTo>
                <a:lnTo>
                  <a:pt x="0" y="169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8922" y="5702619"/>
            <a:ext cx="5490751" cy="4023756"/>
          </a:xfrm>
          <a:custGeom>
            <a:avLst/>
            <a:gdLst/>
            <a:ahLst/>
            <a:cxnLst/>
            <a:rect r="r" b="b" t="t" l="l"/>
            <a:pathLst>
              <a:path h="4023756" w="5490751">
                <a:moveTo>
                  <a:pt x="0" y="0"/>
                </a:moveTo>
                <a:lnTo>
                  <a:pt x="5490751" y="0"/>
                </a:lnTo>
                <a:lnTo>
                  <a:pt x="5490751" y="4023757"/>
                </a:lnTo>
                <a:lnTo>
                  <a:pt x="0" y="4023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06935" y="8852373"/>
            <a:ext cx="402193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7741" y="546634"/>
            <a:ext cx="6238042" cy="153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29"/>
              </a:lnSpc>
            </a:pPr>
            <a:r>
              <a:rPr lang="en-US" sz="894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8922" y="3384291"/>
            <a:ext cx="14701665" cy="239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4"/>
              </a:lnSpc>
              <a:spcBef>
                <a:spcPct val="0"/>
              </a:spcBef>
            </a:pPr>
            <a:r>
              <a:rPr lang="en-US" b="true" sz="342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Agile is a modern software development method.</a:t>
            </a:r>
          </a:p>
          <a:p>
            <a:pPr algn="ctr">
              <a:lnSpc>
                <a:spcPts val="4794"/>
              </a:lnSpc>
              <a:spcBef>
                <a:spcPct val="0"/>
              </a:spcBef>
            </a:pPr>
            <a:r>
              <a:rPr lang="en-US" b="true" sz="342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 • It focuses on flexibility and teamwork.</a:t>
            </a:r>
          </a:p>
          <a:p>
            <a:pPr algn="ctr">
              <a:lnSpc>
                <a:spcPts val="4794"/>
              </a:lnSpc>
              <a:spcBef>
                <a:spcPct val="0"/>
              </a:spcBef>
            </a:pPr>
            <a:r>
              <a:rPr lang="en-US" b="true" sz="342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• It helps teams deliver software faster.</a:t>
            </a:r>
          </a:p>
          <a:p>
            <a:pPr algn="ctr">
              <a:lnSpc>
                <a:spcPts val="4794"/>
              </a:lnSpc>
              <a:spcBef>
                <a:spcPct val="0"/>
              </a:spcBef>
            </a:pPr>
            <a:r>
              <a:rPr lang="en-US" b="true" sz="342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                               • Many companies like Google and Microsoft use Agile.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2749" y="9411098"/>
            <a:ext cx="699480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Sanduni Lakshani - D/ICT /25 /0002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5549" y="1570410"/>
            <a:ext cx="13197577" cy="167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98"/>
              </a:lnSpc>
            </a:pPr>
            <a:r>
              <a:rPr lang="en-US" sz="11591">
                <a:solidFill>
                  <a:srgbClr val="000000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28462" y="4888580"/>
            <a:ext cx="4493069" cy="4493069"/>
          </a:xfrm>
          <a:custGeom>
            <a:avLst/>
            <a:gdLst/>
            <a:ahLst/>
            <a:cxnLst/>
            <a:rect r="r" b="b" t="t" l="l"/>
            <a:pathLst>
              <a:path h="4493069" w="4493069">
                <a:moveTo>
                  <a:pt x="0" y="0"/>
                </a:moveTo>
                <a:lnTo>
                  <a:pt x="4493069" y="0"/>
                </a:lnTo>
                <a:lnTo>
                  <a:pt x="4493069" y="4493069"/>
                </a:lnTo>
                <a:lnTo>
                  <a:pt x="0" y="4493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05549" y="4476521"/>
            <a:ext cx="3200698" cy="3424484"/>
            <a:chOff x="0" y="0"/>
            <a:chExt cx="75968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9685" cy="812800"/>
            </a:xfrm>
            <a:custGeom>
              <a:avLst/>
              <a:gdLst/>
              <a:ahLst/>
              <a:cxnLst/>
              <a:rect r="r" b="b" t="t" l="l"/>
              <a:pathLst>
                <a:path h="812800" w="759685">
                  <a:moveTo>
                    <a:pt x="379842" y="0"/>
                  </a:moveTo>
                  <a:cubicBezTo>
                    <a:pt x="170061" y="0"/>
                    <a:pt x="0" y="181951"/>
                    <a:pt x="0" y="406400"/>
                  </a:cubicBezTo>
                  <a:cubicBezTo>
                    <a:pt x="0" y="630849"/>
                    <a:pt x="170061" y="812800"/>
                    <a:pt x="379842" y="812800"/>
                  </a:cubicBezTo>
                  <a:cubicBezTo>
                    <a:pt x="589623" y="812800"/>
                    <a:pt x="759685" y="630849"/>
                    <a:pt x="759685" y="406400"/>
                  </a:cubicBezTo>
                  <a:cubicBezTo>
                    <a:pt x="759685" y="181951"/>
                    <a:pt x="589623" y="0"/>
                    <a:pt x="379842" y="0"/>
                  </a:cubicBezTo>
                  <a:close/>
                </a:path>
              </a:pathLst>
            </a:custGeom>
            <a:ln w="38100" cap="sq">
              <a:solidFill>
                <a:srgbClr val="7E30E1">
                  <a:alpha val="63922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1220" y="28575"/>
              <a:ext cx="617244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700000">
            <a:off x="2256551" y="5339425"/>
            <a:ext cx="1698674" cy="1698674"/>
          </a:xfrm>
          <a:custGeom>
            <a:avLst/>
            <a:gdLst/>
            <a:ahLst/>
            <a:cxnLst/>
            <a:rect r="r" b="b" t="t" l="l"/>
            <a:pathLst>
              <a:path h="1698674" w="1698674">
                <a:moveTo>
                  <a:pt x="0" y="0"/>
                </a:moveTo>
                <a:lnTo>
                  <a:pt x="1698674" y="0"/>
                </a:lnTo>
                <a:lnTo>
                  <a:pt x="1698674" y="1698675"/>
                </a:lnTo>
                <a:lnTo>
                  <a:pt x="0" y="169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54782" y="4199901"/>
            <a:ext cx="6225939" cy="3977723"/>
            <a:chOff x="0" y="0"/>
            <a:chExt cx="964561" cy="6162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4561" cy="616253"/>
            </a:xfrm>
            <a:custGeom>
              <a:avLst/>
              <a:gdLst/>
              <a:ahLst/>
              <a:cxnLst/>
              <a:rect r="r" b="b" t="t" l="l"/>
              <a:pathLst>
                <a:path h="616253" w="964561">
                  <a:moveTo>
                    <a:pt x="28600" y="0"/>
                  </a:moveTo>
                  <a:lnTo>
                    <a:pt x="935961" y="0"/>
                  </a:lnTo>
                  <a:cubicBezTo>
                    <a:pt x="951756" y="0"/>
                    <a:pt x="964561" y="12805"/>
                    <a:pt x="964561" y="28600"/>
                  </a:cubicBezTo>
                  <a:lnTo>
                    <a:pt x="964561" y="587653"/>
                  </a:lnTo>
                  <a:cubicBezTo>
                    <a:pt x="964561" y="603449"/>
                    <a:pt x="951756" y="616253"/>
                    <a:pt x="935961" y="616253"/>
                  </a:cubicBezTo>
                  <a:lnTo>
                    <a:pt x="28600" y="616253"/>
                  </a:lnTo>
                  <a:cubicBezTo>
                    <a:pt x="12805" y="616253"/>
                    <a:pt x="0" y="603449"/>
                    <a:pt x="0" y="587653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681" r="-59680" b="-5383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781978" y="7618667"/>
            <a:ext cx="1117915" cy="1117915"/>
          </a:xfrm>
          <a:custGeom>
            <a:avLst/>
            <a:gdLst/>
            <a:ahLst/>
            <a:cxnLst/>
            <a:rect r="r" b="b" t="t" l="l"/>
            <a:pathLst>
              <a:path h="1117915" w="1117915">
                <a:moveTo>
                  <a:pt x="0" y="0"/>
                </a:moveTo>
                <a:lnTo>
                  <a:pt x="1117915" y="0"/>
                </a:lnTo>
                <a:lnTo>
                  <a:pt x="1117915" y="1117915"/>
                </a:lnTo>
                <a:lnTo>
                  <a:pt x="0" y="11179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956762" y="8852373"/>
            <a:ext cx="302538" cy="40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DAHFVoDrzNc</dc:identifier>
  <dcterms:modified xsi:type="dcterms:W3CDTF">2011-08-01T06:04:30Z</dcterms:modified>
  <cp:revision>1</cp:revision>
  <dc:title>Purple Gradient Product Launch Presentation</dc:title>
</cp:coreProperties>
</file>